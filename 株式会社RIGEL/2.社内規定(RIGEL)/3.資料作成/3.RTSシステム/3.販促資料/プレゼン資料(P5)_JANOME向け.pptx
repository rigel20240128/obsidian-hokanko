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2.webp" ContentType="image/webp"/>
  <Override PartName="/ppt/media/image-2-3.webp" ContentType="image/webp"/>
  <Override PartName="/ppt/media/image-2-4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11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RTSの概要とキャッチコピーを紹介する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自動化が進まない理由、よくある課題への答え、RTSの3つの発想の転換を説明する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4つのプランの学習範囲・月額・初期費用を比較する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導入の流れ、契約条件、サポート体制、会社概要を伝える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webp"/><Relationship Id="rId3" Type="http://schemas.openxmlformats.org/officeDocument/2006/relationships/image" Target="../media/image-2-3.webp"/><Relationship Id="rId4" Type="http://schemas.openxmlformats.org/officeDocument/2006/relationships/image" Target="../media/image-2-4.webp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4F5F7">
                  <a:alpha val="100000"/>
                </a:srgbClr>
              </a:gs>
            </a:gsLst>
            <a:lin ang="4200000" scaled="0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914400"/>
            <a:ext cx="44810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卓上型ロボット教育レンタルシステム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70448" y="342900"/>
            <a:ext cx="1974652" cy="1047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586930"/>
            <a:ext cx="9000664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96"/>
              </a:lnSpc>
              <a:buNone/>
            </a:pPr>
            <a:r>
              <a:rPr lang="en-US" sz="120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RTS</a:t>
            </a:r>
            <a:endParaRPr lang="en-US" sz="12000" dirty="0"/>
          </a:p>
        </p:txBody>
      </p:sp>
      <p:sp>
        <p:nvSpPr>
          <p:cNvPr id="6" name="Text 3"/>
          <p:cNvSpPr/>
          <p:nvPr/>
        </p:nvSpPr>
        <p:spPr>
          <a:xfrm>
            <a:off x="1143000" y="4263330"/>
            <a:ext cx="900066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120" kern="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Robot Training System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143000" y="5425380"/>
            <a:ext cx="900066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設備を買う前に、人を育てる。</a:t>
            </a:r>
            <a:endParaRPr lang="en-US" sz="4200" dirty="0"/>
          </a:p>
        </p:txBody>
      </p:sp>
      <p:sp>
        <p:nvSpPr>
          <p:cNvPr id="11" name="Shape 7"/>
          <p:cNvSpPr/>
          <p:nvPr/>
        </p:nvSpPr>
        <p:spPr>
          <a:xfrm>
            <a:off x="0" y="9496425"/>
            <a:ext cx="18288000" cy="790575"/>
          </a:xfrm>
          <a:prstGeom prst="rect">
            <a:avLst/>
          </a:prstGeom>
          <a:solidFill>
            <a:srgbClr val="026881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143000" y="9725025"/>
            <a:ext cx="1716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株式会社RIGEL</a:t>
            </a:r>
            <a:endParaRPr lang="en-US" sz="1800" dirty="0"/>
          </a:p>
        </p:txBody>
      </p:sp>
      <p:sp>
        <p:nvSpPr>
          <p:cNvPr id="13" name="TextBox 12"/>
          <p:cNvSpPr txBox="1"/>
          <p:nvPr/>
        </p:nvSpPr>
        <p:spPr>
          <a:xfrm>
            <a:off x="9710928" y="8549640"/>
            <a:ext cx="74340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26881"/>
                </a:solidFill>
                <a:latin typeface="Arial"/>
                <a:ea typeface="游ゴシック"/>
              </a:rPr>
              <a:t>JANOME製ロボットを、教育システムの中核に採用</a:t>
            </a:r>
          </a:p>
        </p:txBody>
      </p:sp>
      <p:pic>
        <p:nvPicPr>
          <p:cNvPr id="14" name="Picture 13" descr="jr33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7710" y="2324100"/>
            <a:ext cx="6096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36965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自動化が進まない、本当の理由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9422" y="304800"/>
            <a:ext cx="1615678" cy="857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057275"/>
            <a:ext cx="17602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設備より、人。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143000" y="1800225"/>
            <a:ext cx="1760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0" dirty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自動化の前提は、設備ではありません。それを扱える、自社の技術者です。</a:t>
            </a:r>
            <a:endParaRPr lang="en-US" sz="1800" dirty="0"/>
          </a:p>
        </p:txBody>
      </p:sp>
      <p:sp>
        <p:nvSpPr>
          <p:cNvPr id="6" name="Rounded Rectangle 5"/>
          <p:cNvSpPr/>
          <p:nvPr/>
        </p:nvSpPr>
        <p:spPr>
          <a:xfrm>
            <a:off x="1143000" y="2468880"/>
            <a:ext cx="7818120" cy="342899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040" y="2788920"/>
            <a:ext cx="731520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77440" y="283464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888780"/>
                </a:solidFill>
                <a:latin typeface="Arial"/>
                <a:ea typeface="游ゴシック"/>
              </a:rPr>
              <a:t>よくある課題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127248"/>
            <a:ext cx="6263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Arial"/>
                <a:ea typeface="游ゴシック"/>
              </a:rPr>
              <a:t>設備を導入したが、誰も触れない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206240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26881"/>
                </a:solidFill>
                <a:latin typeface="Arial"/>
                <a:ea typeface="游ゴシック"/>
              </a:rPr>
              <a:t>RTSの答え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498848"/>
            <a:ext cx="7178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26881"/>
                </a:solidFill>
                <a:latin typeface="Arial"/>
                <a:ea typeface="游ゴシック"/>
              </a:rPr>
              <a:t>先に人を育ててから設備を選ぶ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2468880"/>
            <a:ext cx="7818120" cy="342899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6920" y="2788920"/>
            <a:ext cx="731520" cy="731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61320" y="283464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888780"/>
                </a:solidFill>
                <a:latin typeface="Arial"/>
                <a:ea typeface="游ゴシック"/>
              </a:rPr>
              <a:t>よくある課題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3127248"/>
            <a:ext cx="6263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Arial"/>
                <a:ea typeface="游ゴシック"/>
              </a:rPr>
              <a:t>生産ラインを止めて教育はできない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4206240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26881"/>
                </a:solidFill>
                <a:latin typeface="Arial"/>
                <a:ea typeface="游ゴシック"/>
              </a:rPr>
              <a:t>RTSの答え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4498848"/>
            <a:ext cx="7178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26881"/>
                </a:solidFill>
                <a:latin typeface="Arial"/>
                <a:ea typeface="游ゴシック"/>
              </a:rPr>
              <a:t>教育専用設備を別に置くので現場に影響しない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263640"/>
            <a:ext cx="7818120" cy="342899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3040" y="6583679"/>
            <a:ext cx="731520" cy="7315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377440" y="662940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888780"/>
                </a:solidFill>
                <a:latin typeface="Arial"/>
                <a:ea typeface="游ゴシック"/>
              </a:rPr>
              <a:t>よくある課題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6922007"/>
            <a:ext cx="6263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Arial"/>
                <a:ea typeface="游ゴシック"/>
              </a:rPr>
              <a:t>外部研修は単発で、身につかない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8001000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26881"/>
                </a:solidFill>
                <a:latin typeface="Arial"/>
                <a:ea typeface="游ゴシック"/>
              </a:rPr>
              <a:t>RTSの答え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8293608"/>
            <a:ext cx="7178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26881"/>
                </a:solidFill>
                <a:latin typeface="Arial"/>
                <a:ea typeface="游ゴシック"/>
              </a:rPr>
              <a:t>月額で手元に置き続けるから積み上がる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6263640"/>
            <a:ext cx="7818120" cy="342899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6920" y="6583679"/>
            <a:ext cx="731520" cy="7315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561320" y="6629400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888780"/>
                </a:solidFill>
                <a:latin typeface="Arial"/>
                <a:ea typeface="游ゴシック"/>
              </a:rPr>
              <a:t>よくある課題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922007"/>
            <a:ext cx="6263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Arial"/>
                <a:ea typeface="游ゴシック"/>
              </a:rPr>
              <a:t>故障が怖くて触らせられない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8001000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26881"/>
                </a:solidFill>
                <a:latin typeface="Arial"/>
                <a:ea typeface="游ゴシック"/>
              </a:rPr>
              <a:t>RTSの答え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8293608"/>
            <a:ext cx="7178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26881"/>
                </a:solidFill>
                <a:latin typeface="Arial"/>
                <a:ea typeface="游ゴシック"/>
              </a:rPr>
              <a:t>"壊す→直す"を教材にする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343252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必要な範囲から、始められる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70448" y="342900"/>
            <a:ext cx="1974652" cy="1047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552575"/>
            <a:ext cx="176022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4つのプラン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1143000" y="3305175"/>
            <a:ext cx="14287500" cy="19050"/>
          </a:xfrm>
          <a:prstGeom prst="rect">
            <a:avLst/>
          </a:prstGeom>
          <a:solidFill>
            <a:srgbClr val="17181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" y="2838450"/>
            <a:ext cx="27202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グレード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844528" y="2838450"/>
            <a:ext cx="133045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学習範囲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43000" y="4038600"/>
            <a:ext cx="142875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143000" y="3529013"/>
            <a:ext cx="2720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STANDARD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3844528" y="3514725"/>
            <a:ext cx="133045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センサー / 空圧機器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43000" y="4762500"/>
            <a:ext cx="142875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143000" y="4252913"/>
            <a:ext cx="2720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ADVANCE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3844528" y="4238625"/>
            <a:ext cx="133045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通信関係（シリアル、Ethernet I/P）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143000" y="5486400"/>
            <a:ext cx="142875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43000" y="4976813"/>
            <a:ext cx="2720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VISION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3844528" y="4962525"/>
            <a:ext cx="133045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画像処理（位置補正、検査）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143000" y="6210300"/>
            <a:ext cx="142875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143000" y="5700713"/>
            <a:ext cx="2720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PROFESSIONAL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3844528" y="5686425"/>
            <a:ext cx="133045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サーボ制御を含む全範囲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143000" y="6524625"/>
            <a:ext cx="1571625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全グレード共通でJANOME製ロボットを採用。お客様の学習内容に合わせてプランをご用意しております。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4F5F7">
                  <a:alpha val="100000"/>
                </a:srgbClr>
              </a:gs>
            </a:gsLst>
            <a:lin ang="4200000" scaled="0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914400"/>
            <a:ext cx="21123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届いたその日から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70448" y="342900"/>
            <a:ext cx="1974652" cy="1047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552575"/>
            <a:ext cx="17602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導入の流れ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1828800" y="2962275"/>
            <a:ext cx="533400" cy="533400"/>
          </a:xfrm>
          <a:prstGeom prst="ellipse">
            <a:avLst/>
          </a:prstGeom>
          <a:solidFill>
            <a:srgbClr val="026881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790700" y="29622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41120" y="3609975"/>
            <a:ext cx="15087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キットが届く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048000" y="3228975"/>
            <a:ext cx="2793950" cy="19050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27750" y="2962275"/>
            <a:ext cx="533400" cy="533400"/>
          </a:xfrm>
          <a:prstGeom prst="ellipse">
            <a:avLst/>
          </a:prstGeom>
          <a:solidFill>
            <a:srgbClr val="026881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489650" y="29622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184850" y="3609975"/>
            <a:ext cx="1219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組み立てる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746950" y="3228975"/>
            <a:ext cx="2794099" cy="19050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11226850" y="2962275"/>
            <a:ext cx="533400" cy="533400"/>
          </a:xfrm>
          <a:prstGeom prst="ellipse">
            <a:avLst/>
          </a:prstGeom>
          <a:solidFill>
            <a:srgbClr val="026881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188750" y="29622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742935" y="3609975"/>
            <a:ext cx="15012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動かして学ぶ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2446050" y="3228975"/>
            <a:ext cx="2793950" cy="19050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5925800" y="2962275"/>
            <a:ext cx="533400" cy="533400"/>
          </a:xfrm>
          <a:prstGeom prst="ellipse">
            <a:avLst/>
          </a:prstGeom>
          <a:solidFill>
            <a:srgbClr val="026881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5887700" y="29622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438120" y="3609975"/>
            <a:ext cx="15087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技術者に育つ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143000" y="8027670"/>
            <a:ext cx="160020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143000" y="6808470"/>
            <a:ext cx="160020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43000" y="7008495"/>
            <a:ext cx="40233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88"/>
              </a:lnSpc>
              <a:buNone/>
            </a:pPr>
            <a:r>
              <a:rPr lang="en-US" sz="36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✓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1143000" y="7503795"/>
            <a:ext cx="40233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同梱物リスト付きで内容確認が容易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257800" y="7008495"/>
            <a:ext cx="40233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88"/>
              </a:lnSpc>
              <a:buNone/>
            </a:pPr>
            <a:r>
              <a:rPr lang="en-US" sz="36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✓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5257800" y="7503795"/>
            <a:ext cx="40233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組立手順書付きで迷わず完成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372600" y="7008495"/>
            <a:ext cx="40233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88"/>
              </a:lnSpc>
              <a:buNone/>
            </a:pPr>
            <a:r>
              <a:rPr lang="en-US" sz="36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10</a:t>
            </a:r>
            <a:endParaRPr lang="en-US" sz="3600" dirty="0"/>
          </a:p>
        </p:txBody>
      </p:sp>
      <p:sp>
        <p:nvSpPr>
          <p:cNvPr id="28" name="Text 25"/>
          <p:cNvSpPr/>
          <p:nvPr/>
        </p:nvSpPr>
        <p:spPr>
          <a:xfrm>
            <a:off x="9372600" y="7503795"/>
            <a:ext cx="40233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章／体系マニュアルを完備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3487400" y="7008495"/>
            <a:ext cx="40233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588"/>
              </a:lnSpc>
              <a:buNone/>
            </a:pPr>
            <a:r>
              <a:rPr lang="en-US" sz="36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20</a:t>
            </a:r>
            <a:endParaRPr lang="en-US" sz="3600" dirty="0"/>
          </a:p>
        </p:txBody>
      </p:sp>
      <p:sp>
        <p:nvSpPr>
          <p:cNvPr id="30" name="Text 27"/>
          <p:cNvSpPr/>
          <p:nvPr/>
        </p:nvSpPr>
        <p:spPr>
          <a:xfrm>
            <a:off x="13487400" y="7503795"/>
            <a:ext cx="40233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年／代表者のFA設備設計実績</a:t>
            </a:r>
            <a:endParaRPr lang="en-US" sz="1800" dirty="0"/>
          </a:p>
        </p:txBody>
      </p:sp>
      <p:cxnSp>
        <p:nvCxnSpPr>
          <p:cNvPr id="35" name="Connector 34"/>
          <p:cNvCxnSpPr/>
          <p:nvPr/>
        </p:nvCxnSpPr>
        <p:spPr>
          <a:xfrm>
            <a:off x="1143000" y="5486400"/>
            <a:ext cx="16002000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410004" y="443484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904" y="4777740"/>
            <a:ext cx="685800" cy="6858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109106" y="443484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006" y="4777740"/>
            <a:ext cx="685800" cy="68580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10807293" y="443484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0193" y="4777740"/>
            <a:ext cx="685800" cy="68580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15506395" y="443484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49295" y="477774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4F5F7">
                  <a:alpha val="100000"/>
                </a:srgbClr>
              </a:gs>
            </a:gsLst>
            <a:lin ang="4200000" scaled="0"/>
          </a:gra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914400"/>
            <a:ext cx="7315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90" kern="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安心してお使いいただくために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70448" y="342900"/>
            <a:ext cx="1974652" cy="1047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552575"/>
            <a:ext cx="17602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契約条件とサポート体制</a:t>
            </a:r>
            <a:endParaRPr lang="en-US" sz="4800" dirty="0"/>
          </a:p>
        </p:txBody>
      </p:sp>
      <p:sp>
        <p:nvSpPr>
          <p:cNvPr id="31" name="Text 28"/>
          <p:cNvSpPr/>
          <p:nvPr/>
        </p:nvSpPr>
        <p:spPr>
          <a:xfrm>
            <a:off x="1143000" y="2742249"/>
            <a:ext cx="82981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契約条件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143000" y="4755451"/>
            <a:ext cx="75438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051560" y="4204906"/>
            <a:ext cx="2743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契約期間</a:t>
            </a:r>
            <a:endParaRPr lang="en-US" sz="1950" dirty="0"/>
          </a:p>
        </p:txBody>
      </p:sp>
      <p:sp>
        <p:nvSpPr>
          <p:cNvPr id="34" name="Text 31"/>
          <p:cNvSpPr/>
          <p:nvPr/>
        </p:nvSpPr>
        <p:spPr>
          <a:xfrm>
            <a:off x="3931920" y="4204906"/>
            <a:ext cx="46634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3ヶ月〜24ヶ月</a:t>
            </a:r>
            <a:endParaRPr lang="en-US" sz="1950" dirty="0"/>
          </a:p>
        </p:txBody>
      </p:sp>
      <p:sp>
        <p:nvSpPr>
          <p:cNvPr id="35" name="Shape 32"/>
          <p:cNvSpPr/>
          <p:nvPr/>
        </p:nvSpPr>
        <p:spPr>
          <a:xfrm>
            <a:off x="1143000" y="6400610"/>
            <a:ext cx="75438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1051560" y="5850065"/>
            <a:ext cx="2743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途中解約</a:t>
            </a:r>
            <a:endParaRPr lang="en-US" sz="1950" dirty="0"/>
          </a:p>
        </p:txBody>
      </p:sp>
      <p:sp>
        <p:nvSpPr>
          <p:cNvPr id="37" name="Text 34"/>
          <p:cNvSpPr/>
          <p:nvPr/>
        </p:nvSpPr>
        <p:spPr>
          <a:xfrm>
            <a:off x="3931920" y="5850065"/>
            <a:ext cx="46634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2ヶ月前申請で可</a:t>
            </a:r>
            <a:endParaRPr lang="en-US" sz="1950" dirty="0"/>
          </a:p>
        </p:txBody>
      </p:sp>
      <p:sp>
        <p:nvSpPr>
          <p:cNvPr id="38" name="Shape 35"/>
          <p:cNvSpPr/>
          <p:nvPr/>
        </p:nvSpPr>
        <p:spPr>
          <a:xfrm>
            <a:off x="1143000" y="9005888"/>
            <a:ext cx="75438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051560" y="7495222"/>
            <a:ext cx="2743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契約終了後</a:t>
            </a:r>
            <a:endParaRPr lang="en-US" sz="1950" dirty="0"/>
          </a:p>
        </p:txBody>
      </p:sp>
      <p:sp>
        <p:nvSpPr>
          <p:cNvPr id="40" name="Text 37"/>
          <p:cNvSpPr/>
          <p:nvPr/>
        </p:nvSpPr>
        <p:spPr>
          <a:xfrm>
            <a:off x="3931920" y="7495222"/>
            <a:ext cx="46634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ご返送（送料お客様負担）</a:t>
            </a:r>
            <a:endParaRPr lang="en-US" sz="1950" dirty="0"/>
          </a:p>
        </p:txBody>
      </p:sp>
      <p:sp>
        <p:nvSpPr>
          <p:cNvPr id="41" name="Text 38"/>
          <p:cNvSpPr/>
          <p:nvPr/>
        </p:nvSpPr>
        <p:spPr>
          <a:xfrm>
            <a:off x="9601200" y="2742249"/>
            <a:ext cx="82981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 i="0">
                <a:solidFill>
                  <a:srgbClr val="026881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サポート体制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9601200" y="4755451"/>
            <a:ext cx="75438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9509760" y="4204906"/>
            <a:ext cx="2743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メール対応</a:t>
            </a:r>
            <a:endParaRPr lang="en-US" sz="1950" dirty="0"/>
          </a:p>
        </p:txBody>
      </p:sp>
      <p:sp>
        <p:nvSpPr>
          <p:cNvPr id="44" name="Text 41"/>
          <p:cNvSpPr/>
          <p:nvPr/>
        </p:nvSpPr>
        <p:spPr>
          <a:xfrm>
            <a:off x="12390120" y="4204906"/>
            <a:ext cx="47548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3営業日以内</a:t>
            </a:r>
            <a:endParaRPr lang="en-US" sz="1950" dirty="0"/>
          </a:p>
        </p:txBody>
      </p:sp>
      <p:sp>
        <p:nvSpPr>
          <p:cNvPr id="45" name="Shape 42"/>
          <p:cNvSpPr/>
          <p:nvPr/>
        </p:nvSpPr>
        <p:spPr>
          <a:xfrm>
            <a:off x="9601200" y="6400610"/>
            <a:ext cx="75438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9509760" y="5850065"/>
            <a:ext cx="2743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オンライン対応</a:t>
            </a:r>
            <a:endParaRPr lang="en-US" sz="1950" dirty="0"/>
          </a:p>
        </p:txBody>
      </p:sp>
      <p:sp>
        <p:nvSpPr>
          <p:cNvPr id="47" name="Text 44"/>
          <p:cNvSpPr/>
          <p:nvPr/>
        </p:nvSpPr>
        <p:spPr>
          <a:xfrm>
            <a:off x="12390120" y="5850065"/>
            <a:ext cx="47548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ご相談ください</a:t>
            </a:r>
            <a:endParaRPr lang="en-US" sz="1950" dirty="0"/>
          </a:p>
        </p:txBody>
      </p:sp>
      <p:sp>
        <p:nvSpPr>
          <p:cNvPr id="48" name="Shape 45"/>
          <p:cNvSpPr/>
          <p:nvPr/>
        </p:nvSpPr>
        <p:spPr>
          <a:xfrm>
            <a:off x="9601200" y="9005888"/>
            <a:ext cx="7543800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9509760" y="7495222"/>
            <a:ext cx="2743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 i="0">
                <a:solidFill>
                  <a:srgbClr val="6B6E73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訪問対応</a:t>
            </a:r>
            <a:endParaRPr lang="en-US" sz="1950" dirty="0"/>
          </a:p>
        </p:txBody>
      </p:sp>
      <p:sp>
        <p:nvSpPr>
          <p:cNvPr id="50" name="Text 47"/>
          <p:cNvSpPr/>
          <p:nvPr/>
        </p:nvSpPr>
        <p:spPr>
          <a:xfrm>
            <a:off x="12390120" y="7495222"/>
            <a:ext cx="47548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 i="0">
                <a:solidFill>
                  <a:srgbClr val="17181A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ご相談ください</a:t>
            </a:r>
            <a:endParaRPr lang="en-US" sz="1950" dirty="0"/>
          </a:p>
        </p:txBody>
      </p:sp>
      <p:sp>
        <p:nvSpPr>
          <p:cNvPr id="51" name="Shape 48"/>
          <p:cNvSpPr/>
          <p:nvPr/>
        </p:nvSpPr>
        <p:spPr>
          <a:xfrm>
            <a:off x="0" y="9496425"/>
            <a:ext cx="18288000" cy="790575"/>
          </a:xfrm>
          <a:prstGeom prst="rect">
            <a:avLst/>
          </a:prstGeom>
          <a:solidFill>
            <a:srgbClr val="026881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1143000" y="9725025"/>
            <a:ext cx="17160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株式会社RIGEL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11871722" y="9725025"/>
            <a:ext cx="580060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 i="0">
                <a:solidFill>
                  <a:srgbClr val="FFFFFF"/>
                </a:solidFill>
                <a:latin typeface="Arial" pitchFamily="34" charset="0"/>
                <a:ea typeface="游ゴシック" pitchFamily="34" charset="-122"/>
                <a:cs typeface="游ゴシック" pitchFamily="34" charset="-120"/>
              </a:rPr>
              <a:t>千葉県柏市／rigel-works.jp／info@rigel-works.jp</a:t>
            </a:r>
            <a:endParaRPr lang="en-US" sz="1800" dirty="0"/>
          </a:p>
        </p:txBody>
      </p:sp>
      <p:pic>
        <p:nvPicPr>
          <p:cNvPr id="60" name="Picture 59" descr="s5_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169663"/>
            <a:ext cx="457200" cy="457200"/>
          </a:xfrm>
          <a:prstGeom prst="rect">
            <a:avLst/>
          </a:prstGeom>
        </p:spPr>
      </p:pic>
      <p:pic>
        <p:nvPicPr>
          <p:cNvPr id="61" name="Picture 60" descr="s5_rot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5815584"/>
            <a:ext cx="457200" cy="457200"/>
          </a:xfrm>
          <a:prstGeom prst="rect">
            <a:avLst/>
          </a:prstGeom>
        </p:spPr>
      </p:pic>
      <p:pic>
        <p:nvPicPr>
          <p:cNvPr id="62" name="Picture 61" descr="s5_retu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7461503"/>
            <a:ext cx="457200" cy="457200"/>
          </a:xfrm>
          <a:prstGeom prst="rect">
            <a:avLst/>
          </a:prstGeom>
        </p:spPr>
      </p:pic>
      <p:pic>
        <p:nvPicPr>
          <p:cNvPr id="63" name="Picture 62" descr="s5_m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8824" y="4169663"/>
            <a:ext cx="457200" cy="457200"/>
          </a:xfrm>
          <a:prstGeom prst="rect">
            <a:avLst/>
          </a:prstGeom>
        </p:spPr>
      </p:pic>
      <p:pic>
        <p:nvPicPr>
          <p:cNvPr id="64" name="Picture 63" descr="s5_on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8824" y="5815584"/>
            <a:ext cx="457200" cy="457200"/>
          </a:xfrm>
          <a:prstGeom prst="rect">
            <a:avLst/>
          </a:prstGeom>
        </p:spPr>
      </p:pic>
      <p:pic>
        <p:nvPicPr>
          <p:cNvPr id="65" name="Picture 64" descr="s5_vis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8824" y="7461503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2026-08-05T14:11:02Z</dcterms:created>
  <dcterms:modified xsi:type="dcterms:W3CDTF">2026-08-05T14:11:02Z</dcterms:modified>
</cp:coreProperties>
</file>