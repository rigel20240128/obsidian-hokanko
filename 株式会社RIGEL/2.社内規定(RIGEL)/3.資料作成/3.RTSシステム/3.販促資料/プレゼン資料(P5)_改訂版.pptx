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2-2.webp" ContentType="image/webp"/>
  <Override PartName="/ppt/media/image-2-3.webp" ContentType="image/webp"/>
  <Override PartName="/ppt/media/image-2-4.webp" ContentType="image/webp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11"/>
  </p:sldIdLst>
  <p:notesMasterIdLst>
    <p:notesMasterId r:id="rId6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RTSの概要とキャッチコピーを紹介する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自動化が進まない理由、よくある課題への答え、RTSの3つの発想の転換を説明する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4つのプランの学習範囲・月額・初期費用を比較する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導入の流れ、契約条件、サポート体制、会社概要を伝える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webp"/><Relationship Id="rId3" Type="http://schemas.openxmlformats.org/officeDocument/2006/relationships/image" Target="../media/image-2-3.webp"/><Relationship Id="rId4" Type="http://schemas.openxmlformats.org/officeDocument/2006/relationships/image" Target="../media/image-2-4.webp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Relationship Id="rId7" Type="http://schemas.openxmlformats.org/officeDocument/2006/relationships/image" Target="../media/image1.png"/><Relationship Id="rId8" Type="http://schemas.openxmlformats.org/officeDocument/2006/relationships/image" Target="../media/image2.png"/><Relationship Id="rId9" Type="http://schemas.openxmlformats.org/officeDocument/2006/relationships/image" Target="../media/image3.png"/><Relationship Id="rId10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FFFFFF">
                  <a:alpha val="100000"/>
                </a:srgbClr>
              </a:gs>
              <a:gs pos="100000">
                <a:srgbClr val="F4F5F7">
                  <a:alpha val="100000"/>
                </a:srgbClr>
              </a:gs>
            </a:gsLst>
            <a:lin ang="4200000" scaled="0"/>
          </a:gra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143000" y="914400"/>
            <a:ext cx="4481096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90" kern="0" dirty="0" i="0">
                <a:solidFill>
                  <a:srgbClr val="6B6E73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卓上型ロボット教育レンタルシステム</a:t>
            </a:r>
            <a:endParaRPr lang="en-US" sz="1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970448" y="342900"/>
            <a:ext cx="1974652" cy="104775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43000" y="2586930"/>
            <a:ext cx="9000664" cy="1562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0796"/>
              </a:lnSpc>
              <a:buNone/>
            </a:pPr>
            <a:r>
              <a:rPr lang="en-US" sz="12000" b="1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RTS</a:t>
            </a:r>
            <a:endParaRPr lang="en-US" sz="12000" dirty="0"/>
          </a:p>
        </p:txBody>
      </p:sp>
      <p:sp>
        <p:nvSpPr>
          <p:cNvPr id="6" name="Text 3"/>
          <p:cNvSpPr/>
          <p:nvPr/>
        </p:nvSpPr>
        <p:spPr>
          <a:xfrm>
            <a:off x="1143000" y="4263330"/>
            <a:ext cx="9000664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spc="120" kern="0" dirty="0" i="0">
                <a:solidFill>
                  <a:srgbClr val="6B6E73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Robot Training System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1143000" y="5425380"/>
            <a:ext cx="9000664" cy="7314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200" b="1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設備を買う前に、人を育てる。</a:t>
            </a:r>
            <a:endParaRPr lang="en-US" sz="4200" dirty="0"/>
          </a:p>
        </p:txBody>
      </p:sp>
      <p:sp>
        <p:nvSpPr>
          <p:cNvPr id="8" name="Shape 5"/>
          <p:cNvSpPr/>
          <p:nvPr/>
        </p:nvSpPr>
        <p:spPr>
          <a:xfrm>
            <a:off x="1143000" y="7223671"/>
            <a:ext cx="3752404" cy="933450"/>
          </a:xfrm>
          <a:prstGeom prst="rect">
            <a:avLst/>
          </a:prstGeom>
          <a:solidFill>
            <a:srgbClr val="026881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1600200" y="7414171"/>
            <a:ext cx="2950576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 i="0">
                <a:solidFill>
                  <a:srgbClr val="FFFFFF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月額 ¥120,000〜</a:t>
            </a:r>
            <a:endParaRPr lang="en-US" sz="30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rcRect l="-15809" r="-15809" t="0" b="0"/>
          <a:stretch/>
        </p:blipFill>
        <p:spPr>
          <a:xfrm>
            <a:off x="9706421" y="2324100"/>
            <a:ext cx="7438579" cy="609600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0" y="9496425"/>
            <a:ext cx="18288000" cy="790575"/>
          </a:xfrm>
          <a:prstGeom prst="rect">
            <a:avLst/>
          </a:prstGeom>
          <a:solidFill>
            <a:srgbClr val="026881"/>
          </a:solidFill>
          <a:ln/>
        </p:spPr>
        <p:txBody>
          <a:bodyPr/>
          <a:p/>
        </p:txBody>
      </p:sp>
      <p:sp>
        <p:nvSpPr>
          <p:cNvPr id="12" name="Text 8"/>
          <p:cNvSpPr/>
          <p:nvPr/>
        </p:nvSpPr>
        <p:spPr>
          <a:xfrm>
            <a:off x="1143000" y="9725025"/>
            <a:ext cx="1716018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 i="0">
                <a:solidFill>
                  <a:srgbClr val="FFFFFF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株式会社RIGEL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533400"/>
            <a:ext cx="3696593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90" kern="0" dirty="0" i="0">
                <a:solidFill>
                  <a:srgbClr val="6B6E73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自動化が進まない、本当の理由</a:t>
            </a:r>
            <a:endParaRPr lang="en-US" sz="18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329422" y="304800"/>
            <a:ext cx="1615678" cy="85725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1057275"/>
            <a:ext cx="17602200" cy="704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設備より、人。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1143000" y="1800225"/>
            <a:ext cx="1760220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i="0" dirty="0">
                <a:solidFill>
                  <a:srgbClr val="6B6E73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自動化の前提は、設備ではありません。それを扱える、自社の技術者です。</a:t>
            </a:r>
            <a:endParaRPr lang="en-US" sz="1800" dirty="0"/>
          </a:p>
        </p:txBody>
      </p:sp>
      <p:sp>
        <p:nvSpPr>
          <p:cNvPr id="6" name="Rounded Rectangle 5"/>
          <p:cNvSpPr/>
          <p:nvPr/>
        </p:nvSpPr>
        <p:spPr>
          <a:xfrm>
            <a:off x="1143000" y="2468880"/>
            <a:ext cx="7818120" cy="3428999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63040" y="2788920"/>
            <a:ext cx="731520" cy="731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377440" y="2834640"/>
            <a:ext cx="6263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888780"/>
                </a:solidFill>
                <a:latin typeface="Arial"/>
                <a:ea typeface="游ゴシック"/>
              </a:rPr>
              <a:t>よくある課題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3127248"/>
            <a:ext cx="6263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Arial"/>
                <a:ea typeface="游ゴシック"/>
              </a:rPr>
              <a:t>設備を導入したが、誰も触れない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4206240"/>
            <a:ext cx="7178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026881"/>
                </a:solidFill>
                <a:latin typeface="Arial"/>
                <a:ea typeface="游ゴシック"/>
              </a:rPr>
              <a:t>RTSの答え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4498848"/>
            <a:ext cx="7178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26881"/>
                </a:solidFill>
                <a:latin typeface="Arial"/>
                <a:ea typeface="游ゴシック"/>
              </a:rPr>
              <a:t>先に人を育ててから設備を選ぶ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26880" y="2468880"/>
            <a:ext cx="7818120" cy="3428999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46920" y="2788920"/>
            <a:ext cx="731520" cy="7315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561320" y="2834640"/>
            <a:ext cx="6263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888780"/>
                </a:solidFill>
                <a:latin typeface="Arial"/>
                <a:ea typeface="游ゴシック"/>
              </a:rPr>
              <a:t>よくある課題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61320" y="3127248"/>
            <a:ext cx="6263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Arial"/>
                <a:ea typeface="游ゴシック"/>
              </a:rPr>
              <a:t>生産ラインを止めて教育はできない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46920" y="4206240"/>
            <a:ext cx="7178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026881"/>
                </a:solidFill>
                <a:latin typeface="Arial"/>
                <a:ea typeface="游ゴシック"/>
              </a:rPr>
              <a:t>RTSの答え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46920" y="4498848"/>
            <a:ext cx="7178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26881"/>
                </a:solidFill>
                <a:latin typeface="Arial"/>
                <a:ea typeface="游ゴシック"/>
              </a:rPr>
              <a:t>教育専用設備を別に置くので現場に影響しない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6263640"/>
            <a:ext cx="7818120" cy="3428999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63040" y="6583679"/>
            <a:ext cx="731520" cy="7315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377440" y="6629400"/>
            <a:ext cx="6263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888780"/>
                </a:solidFill>
                <a:latin typeface="Arial"/>
                <a:ea typeface="游ゴシック"/>
              </a:rPr>
              <a:t>よくある課題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6922007"/>
            <a:ext cx="6263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Arial"/>
                <a:ea typeface="游ゴシック"/>
              </a:rPr>
              <a:t>外部研修は単発で、身につかない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8001000"/>
            <a:ext cx="7178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026881"/>
                </a:solidFill>
                <a:latin typeface="Arial"/>
                <a:ea typeface="游ゴシック"/>
              </a:rPr>
              <a:t>RTSの答え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8293608"/>
            <a:ext cx="7178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26881"/>
                </a:solidFill>
                <a:latin typeface="Arial"/>
                <a:ea typeface="游ゴシック"/>
              </a:rPr>
              <a:t>月額で手元に置き続けるから積み上がる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326880" y="6263640"/>
            <a:ext cx="7818120" cy="3428999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46920" y="6583679"/>
            <a:ext cx="731520" cy="7315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0561320" y="6629400"/>
            <a:ext cx="6263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888780"/>
                </a:solidFill>
                <a:latin typeface="Arial"/>
                <a:ea typeface="游ゴシック"/>
              </a:rPr>
              <a:t>よくある課題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61320" y="6922007"/>
            <a:ext cx="6263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Arial"/>
                <a:ea typeface="游ゴシック"/>
              </a:rPr>
              <a:t>故障が怖くて触らせられない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46920" y="8001000"/>
            <a:ext cx="7178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026881"/>
                </a:solidFill>
                <a:latin typeface="Arial"/>
                <a:ea typeface="游ゴシック"/>
              </a:rPr>
              <a:t>RTSの答え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46920" y="8293608"/>
            <a:ext cx="7178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26881"/>
                </a:solidFill>
                <a:latin typeface="Arial"/>
                <a:ea typeface="游ゴシック"/>
              </a:rPr>
              <a:t>"壊す→直す"を教材にする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14400"/>
            <a:ext cx="343252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90" kern="0" dirty="0" i="0">
                <a:solidFill>
                  <a:srgbClr val="6B6E73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必要な範囲から、始められる</a:t>
            </a:r>
            <a:endParaRPr lang="en-US" sz="18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970448" y="342900"/>
            <a:ext cx="1974652" cy="104775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1552575"/>
            <a:ext cx="17602200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4つのプラン</a:t>
            </a:r>
            <a:endParaRPr lang="en-US" sz="4200" dirty="0"/>
          </a:p>
        </p:txBody>
      </p:sp>
      <p:sp>
        <p:nvSpPr>
          <p:cNvPr id="5" name="Shape 2"/>
          <p:cNvSpPr/>
          <p:nvPr/>
        </p:nvSpPr>
        <p:spPr>
          <a:xfrm>
            <a:off x="1143000" y="3305175"/>
            <a:ext cx="14287500" cy="19050"/>
          </a:xfrm>
          <a:prstGeom prst="rect">
            <a:avLst/>
          </a:prstGeom>
          <a:solidFill>
            <a:srgbClr val="17181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" y="2838450"/>
            <a:ext cx="2720221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 i="0">
                <a:solidFill>
                  <a:srgbClr val="6B6E73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グレード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3844528" y="2838450"/>
            <a:ext cx="544076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 i="0">
                <a:solidFill>
                  <a:srgbClr val="6B6E73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学習範囲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9019282" y="2838450"/>
            <a:ext cx="4080495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 i="0">
                <a:solidFill>
                  <a:srgbClr val="6B6E73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月額リース料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2957423" y="2838450"/>
            <a:ext cx="2720221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 i="0">
                <a:solidFill>
                  <a:srgbClr val="6B6E73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初期費用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1143000" y="4038600"/>
            <a:ext cx="14287500" cy="9525"/>
          </a:xfrm>
          <a:prstGeom prst="rect">
            <a:avLst/>
          </a:prstGeom>
          <a:solidFill>
            <a:srgbClr val="E3E1DB"/>
          </a:solidFill>
          <a:ln/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143000" y="3529013"/>
            <a:ext cx="2720221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 i="0">
                <a:solidFill>
                  <a:srgbClr val="026881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STANDARD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3844528" y="3514725"/>
            <a:ext cx="544076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センサー / 空圧機器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9019282" y="3514725"/>
            <a:ext cx="4080495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¥120,000 /月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12957423" y="3514725"/>
            <a:ext cx="2720221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100,000-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1143000" y="4762500"/>
            <a:ext cx="14287500" cy="9525"/>
          </a:xfrm>
          <a:prstGeom prst="rect">
            <a:avLst/>
          </a:prstGeom>
          <a:solidFill>
            <a:srgbClr val="E3E1DB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1143000" y="4252913"/>
            <a:ext cx="2720221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 i="0">
                <a:solidFill>
                  <a:srgbClr val="026881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ADVANCE</a:t>
            </a:r>
            <a:endParaRPr lang="en-US" sz="2100" dirty="0"/>
          </a:p>
        </p:txBody>
      </p:sp>
      <p:sp>
        <p:nvSpPr>
          <p:cNvPr id="17" name="Text 14"/>
          <p:cNvSpPr/>
          <p:nvPr/>
        </p:nvSpPr>
        <p:spPr>
          <a:xfrm>
            <a:off x="3844528" y="4238625"/>
            <a:ext cx="544076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通信関係（シリアル、Ethernet I/P）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9019282" y="4238625"/>
            <a:ext cx="4080495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¥198,000 /月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12957423" y="4238625"/>
            <a:ext cx="2720221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150,000-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1143000" y="5486400"/>
            <a:ext cx="14287500" cy="9525"/>
          </a:xfrm>
          <a:prstGeom prst="rect">
            <a:avLst/>
          </a:prstGeom>
          <a:solidFill>
            <a:srgbClr val="E3E1DB"/>
          </a:solidFill>
          <a:ln/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1143000" y="4976813"/>
            <a:ext cx="2720221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 i="0">
                <a:solidFill>
                  <a:srgbClr val="026881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VISION</a:t>
            </a:r>
            <a:endParaRPr lang="en-US" sz="2100" dirty="0"/>
          </a:p>
        </p:txBody>
      </p:sp>
      <p:sp>
        <p:nvSpPr>
          <p:cNvPr id="22" name="Text 19"/>
          <p:cNvSpPr/>
          <p:nvPr/>
        </p:nvSpPr>
        <p:spPr>
          <a:xfrm>
            <a:off x="3844528" y="4962525"/>
            <a:ext cx="544076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画像処理（位置補正、検査）</a:t>
            </a:r>
            <a:endParaRPr lang="en-US" sz="1800" dirty="0"/>
          </a:p>
        </p:txBody>
      </p:sp>
      <p:sp>
        <p:nvSpPr>
          <p:cNvPr id="23" name="Text 20"/>
          <p:cNvSpPr/>
          <p:nvPr/>
        </p:nvSpPr>
        <p:spPr>
          <a:xfrm>
            <a:off x="9019282" y="4962525"/>
            <a:ext cx="4080495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¥298,000 /月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12957423" y="4962525"/>
            <a:ext cx="2720221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200,000-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1143000" y="6210300"/>
            <a:ext cx="14287500" cy="9525"/>
          </a:xfrm>
          <a:prstGeom prst="rect">
            <a:avLst/>
          </a:prstGeom>
          <a:solidFill>
            <a:srgbClr val="E3E1DB"/>
          </a:solidFill>
          <a:ln/>
        </p:spPr>
        <p:txBody>
          <a:bodyPr/>
          <a:p/>
        </p:txBody>
      </p:sp>
      <p:sp>
        <p:nvSpPr>
          <p:cNvPr id="26" name="Text 23"/>
          <p:cNvSpPr/>
          <p:nvPr/>
        </p:nvSpPr>
        <p:spPr>
          <a:xfrm>
            <a:off x="1143000" y="5700713"/>
            <a:ext cx="2720221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 i="0">
                <a:solidFill>
                  <a:srgbClr val="026881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PROFESSIONAL</a:t>
            </a:r>
            <a:endParaRPr lang="en-US" sz="2100" dirty="0"/>
          </a:p>
        </p:txBody>
      </p:sp>
      <p:sp>
        <p:nvSpPr>
          <p:cNvPr id="27" name="Text 24"/>
          <p:cNvSpPr/>
          <p:nvPr/>
        </p:nvSpPr>
        <p:spPr>
          <a:xfrm>
            <a:off x="3844528" y="5686425"/>
            <a:ext cx="544076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サーボ制御を含む全範囲</a:t>
            </a:r>
            <a:endParaRPr lang="en-US" sz="1800" dirty="0"/>
          </a:p>
        </p:txBody>
      </p:sp>
      <p:sp>
        <p:nvSpPr>
          <p:cNvPr id="28" name="Text 25"/>
          <p:cNvSpPr/>
          <p:nvPr/>
        </p:nvSpPr>
        <p:spPr>
          <a:xfrm>
            <a:off x="9019282" y="5686425"/>
            <a:ext cx="4080495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¥398,000 /月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12957423" y="5686425"/>
            <a:ext cx="2720221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250,000-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1143000" y="6524625"/>
            <a:ext cx="15716250" cy="434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194"/>
              </a:lnSpc>
              <a:buNone/>
            </a:pPr>
            <a:r>
              <a:rPr lang="en-US" sz="1950" dirty="0" i="0">
                <a:solidFill>
                  <a:srgbClr val="6B6E73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お客様の学習内容に合わせてプランをご用意しており、技術力向上に貢献致します。</a:t>
            </a:r>
            <a:endParaRPr lang="en-US" sz="1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FFFFFF">
                  <a:alpha val="100000"/>
                </a:srgbClr>
              </a:gs>
              <a:gs pos="100000">
                <a:srgbClr val="F4F5F7">
                  <a:alpha val="100000"/>
                </a:srgbClr>
              </a:gs>
            </a:gsLst>
            <a:lin ang="4200000" scaled="0"/>
          </a:gra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143000" y="914400"/>
            <a:ext cx="2112362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90" kern="0" dirty="0" i="0">
                <a:solidFill>
                  <a:srgbClr val="6B6E73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届いたその日から</a:t>
            </a:r>
            <a:endParaRPr lang="en-US" sz="1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970448" y="342900"/>
            <a:ext cx="1974652" cy="104775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43000" y="1552575"/>
            <a:ext cx="1760220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800" b="1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導入の流れ</a:t>
            </a:r>
            <a:endParaRPr lang="en-US" sz="4800" dirty="0"/>
          </a:p>
        </p:txBody>
      </p:sp>
      <p:sp>
        <p:nvSpPr>
          <p:cNvPr id="6" name="Shape 3"/>
          <p:cNvSpPr/>
          <p:nvPr/>
        </p:nvSpPr>
        <p:spPr>
          <a:xfrm>
            <a:off x="1828800" y="2962275"/>
            <a:ext cx="533400" cy="533400"/>
          </a:xfrm>
          <a:prstGeom prst="ellipse">
            <a:avLst/>
          </a:prstGeom>
          <a:solidFill>
            <a:srgbClr val="026881"/>
          </a:solidFill>
          <a:ln/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1790700" y="2962275"/>
            <a:ext cx="60960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 i="0">
                <a:solidFill>
                  <a:srgbClr val="FFFFFF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341120" y="3609975"/>
            <a:ext cx="150876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キットが届く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3048000" y="3228975"/>
            <a:ext cx="2793950" cy="19050"/>
          </a:xfrm>
          <a:prstGeom prst="rect">
            <a:avLst/>
          </a:prstGeom>
          <a:solidFill>
            <a:srgbClr val="E3E1DB"/>
          </a:solidFill>
          <a:ln/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527750" y="2962275"/>
            <a:ext cx="533400" cy="533400"/>
          </a:xfrm>
          <a:prstGeom prst="ellipse">
            <a:avLst/>
          </a:prstGeom>
          <a:solidFill>
            <a:srgbClr val="026881"/>
          </a:solidFill>
          <a:ln/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6489650" y="2962275"/>
            <a:ext cx="60960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 i="0">
                <a:solidFill>
                  <a:srgbClr val="FFFFFF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6184850" y="3609975"/>
            <a:ext cx="121920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組み立てる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7746950" y="3228975"/>
            <a:ext cx="2794099" cy="19050"/>
          </a:xfrm>
          <a:prstGeom prst="rect">
            <a:avLst/>
          </a:prstGeom>
          <a:solidFill>
            <a:srgbClr val="E3E1DB"/>
          </a:solidFill>
          <a:ln/>
        </p:spPr>
        <p:txBody>
          <a:bodyPr/>
          <a:p/>
        </p:txBody>
      </p:sp>
      <p:sp>
        <p:nvSpPr>
          <p:cNvPr id="14" name="Shape 11"/>
          <p:cNvSpPr/>
          <p:nvPr/>
        </p:nvSpPr>
        <p:spPr>
          <a:xfrm>
            <a:off x="11226850" y="2962275"/>
            <a:ext cx="533400" cy="533400"/>
          </a:xfrm>
          <a:prstGeom prst="ellipse">
            <a:avLst/>
          </a:prstGeom>
          <a:solidFill>
            <a:srgbClr val="026881"/>
          </a:solidFill>
          <a:ln/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11188750" y="2962275"/>
            <a:ext cx="60960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 i="0">
                <a:solidFill>
                  <a:srgbClr val="FFFFFF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0742935" y="3609975"/>
            <a:ext cx="150122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動かして学ぶ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12446050" y="3228975"/>
            <a:ext cx="2793950" cy="19050"/>
          </a:xfrm>
          <a:prstGeom prst="rect">
            <a:avLst/>
          </a:prstGeom>
          <a:solidFill>
            <a:srgbClr val="E3E1DB"/>
          </a:solidFill>
          <a:ln/>
        </p:spPr>
        <p:txBody>
          <a:bodyPr/>
          <a:p/>
        </p:txBody>
      </p:sp>
      <p:sp>
        <p:nvSpPr>
          <p:cNvPr id="18" name="Shape 15"/>
          <p:cNvSpPr/>
          <p:nvPr/>
        </p:nvSpPr>
        <p:spPr>
          <a:xfrm>
            <a:off x="15925800" y="2962275"/>
            <a:ext cx="533400" cy="533400"/>
          </a:xfrm>
          <a:prstGeom prst="ellipse">
            <a:avLst/>
          </a:prstGeom>
          <a:solidFill>
            <a:srgbClr val="026881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15887700" y="2962275"/>
            <a:ext cx="60960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 i="0">
                <a:solidFill>
                  <a:srgbClr val="FFFFFF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4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15438120" y="3609975"/>
            <a:ext cx="150876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技術者に育つ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1143000" y="8027670"/>
            <a:ext cx="16002000" cy="9525"/>
          </a:xfrm>
          <a:prstGeom prst="rect">
            <a:avLst/>
          </a:prstGeom>
          <a:solidFill>
            <a:srgbClr val="E3E1DB"/>
          </a:solidFill>
          <a:ln/>
        </p:spPr>
        <p:txBody>
          <a:bodyPr/>
          <a:p/>
        </p:txBody>
      </p:sp>
      <p:sp>
        <p:nvSpPr>
          <p:cNvPr id="22" name="Shape 19"/>
          <p:cNvSpPr/>
          <p:nvPr/>
        </p:nvSpPr>
        <p:spPr>
          <a:xfrm>
            <a:off x="1143000" y="6808470"/>
            <a:ext cx="16002000" cy="9525"/>
          </a:xfrm>
          <a:prstGeom prst="rect">
            <a:avLst/>
          </a:prstGeom>
          <a:solidFill>
            <a:srgbClr val="E3E1DB"/>
          </a:solidFill>
          <a:ln/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1143000" y="7008495"/>
            <a:ext cx="402336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0588"/>
              </a:lnSpc>
              <a:buNone/>
            </a:pPr>
            <a:r>
              <a:rPr lang="en-US" sz="3600" b="1" dirty="0" i="0">
                <a:solidFill>
                  <a:srgbClr val="026881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20</a:t>
            </a:r>
            <a:endParaRPr lang="en-US" sz="3600" dirty="0"/>
          </a:p>
        </p:txBody>
      </p:sp>
      <p:sp>
        <p:nvSpPr>
          <p:cNvPr id="24" name="Text 21"/>
          <p:cNvSpPr/>
          <p:nvPr/>
        </p:nvSpPr>
        <p:spPr>
          <a:xfrm>
            <a:off x="1143000" y="7503795"/>
            <a:ext cx="402336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 i="0">
                <a:solidFill>
                  <a:srgbClr val="6B6E73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STEP／体系カリキュラム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5257800" y="7008495"/>
            <a:ext cx="402336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0588"/>
              </a:lnSpc>
              <a:buNone/>
            </a:pPr>
            <a:r>
              <a:rPr lang="en-US" sz="3600" b="1" dirty="0" i="0">
                <a:solidFill>
                  <a:srgbClr val="026881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3</a:t>
            </a:r>
            <a:endParaRPr lang="en-US" sz="3600" dirty="0"/>
          </a:p>
        </p:txBody>
      </p:sp>
      <p:sp>
        <p:nvSpPr>
          <p:cNvPr id="26" name="Text 23"/>
          <p:cNvSpPr/>
          <p:nvPr/>
        </p:nvSpPr>
        <p:spPr>
          <a:xfrm>
            <a:off x="5257800" y="7503795"/>
            <a:ext cx="402336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 i="0">
                <a:solidFill>
                  <a:srgbClr val="6B6E73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ヶ月〜／最短契約期間</a:t>
            </a:r>
            <a:endParaRPr lang="en-US" sz="1800" dirty="0"/>
          </a:p>
        </p:txBody>
      </p:sp>
      <p:sp>
        <p:nvSpPr>
          <p:cNvPr id="27" name="Text 24"/>
          <p:cNvSpPr/>
          <p:nvPr/>
        </p:nvSpPr>
        <p:spPr>
          <a:xfrm>
            <a:off x="9372600" y="7008495"/>
            <a:ext cx="402336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0588"/>
              </a:lnSpc>
              <a:buNone/>
            </a:pPr>
            <a:r>
              <a:rPr lang="en-US" sz="3600" b="1" dirty="0" i="0">
                <a:solidFill>
                  <a:srgbClr val="026881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3</a:t>
            </a:r>
            <a:endParaRPr lang="en-US" sz="3600" dirty="0"/>
          </a:p>
        </p:txBody>
      </p:sp>
      <p:sp>
        <p:nvSpPr>
          <p:cNvPr id="28" name="Text 25"/>
          <p:cNvSpPr/>
          <p:nvPr/>
        </p:nvSpPr>
        <p:spPr>
          <a:xfrm>
            <a:off x="9372600" y="7503795"/>
            <a:ext cx="402336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 i="0">
                <a:solidFill>
                  <a:srgbClr val="6B6E73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営業日／サポート返信目安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13487400" y="7008495"/>
            <a:ext cx="402336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0588"/>
              </a:lnSpc>
              <a:buNone/>
            </a:pPr>
            <a:r>
              <a:rPr lang="en-US" sz="3600" b="1" dirty="0" i="0">
                <a:solidFill>
                  <a:srgbClr val="026881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20</a:t>
            </a:r>
            <a:endParaRPr lang="en-US" sz="3600" dirty="0"/>
          </a:p>
        </p:txBody>
      </p:sp>
      <p:sp>
        <p:nvSpPr>
          <p:cNvPr id="30" name="Text 27"/>
          <p:cNvSpPr/>
          <p:nvPr/>
        </p:nvSpPr>
        <p:spPr>
          <a:xfrm>
            <a:off x="13487400" y="7503795"/>
            <a:ext cx="402336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 i="0">
                <a:solidFill>
                  <a:srgbClr val="6B6E73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代表者のFA設計実務年数</a:t>
            </a:r>
            <a:endParaRPr lang="en-US" sz="1800" dirty="0"/>
          </a:p>
        </p:txBody>
      </p:sp>
      <p:cxnSp>
        <p:nvCxnSpPr>
          <p:cNvPr id="35" name="Connector 34"/>
          <p:cNvCxnSpPr/>
          <p:nvPr/>
        </p:nvCxnSpPr>
        <p:spPr>
          <a:xfrm>
            <a:off x="1143000" y="5486400"/>
            <a:ext cx="16002000" cy="0"/>
          </a:xfrm>
          <a:prstGeom prst="line">
            <a:avLst/>
          </a:prstGeom>
          <a:ln w="9525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1410004" y="4434840"/>
            <a:ext cx="1371600" cy="1371600"/>
          </a:xfrm>
          <a:prstGeom prst="roundRect">
            <a:avLst>
              <a:gd name="adj" fmla="val 18000"/>
            </a:avLst>
          </a:prstGeom>
          <a:solidFill>
            <a:srgbClr val="E8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2904" y="4777740"/>
            <a:ext cx="685800" cy="685800"/>
          </a:xfrm>
          <a:prstGeom prst="rect">
            <a:avLst/>
          </a:prstGeom>
        </p:spPr>
      </p:pic>
      <p:sp>
        <p:nvSpPr>
          <p:cNvPr id="38" name="Rounded Rectangle 37"/>
          <p:cNvSpPr/>
          <p:nvPr/>
        </p:nvSpPr>
        <p:spPr>
          <a:xfrm>
            <a:off x="6109106" y="4434840"/>
            <a:ext cx="1371600" cy="1371600"/>
          </a:xfrm>
          <a:prstGeom prst="roundRect">
            <a:avLst>
              <a:gd name="adj" fmla="val 18000"/>
            </a:avLst>
          </a:prstGeom>
          <a:solidFill>
            <a:srgbClr val="E8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2006" y="4777740"/>
            <a:ext cx="685800" cy="685800"/>
          </a:xfrm>
          <a:prstGeom prst="rect">
            <a:avLst/>
          </a:prstGeom>
        </p:spPr>
      </p:pic>
      <p:sp>
        <p:nvSpPr>
          <p:cNvPr id="40" name="Rounded Rectangle 39"/>
          <p:cNvSpPr/>
          <p:nvPr/>
        </p:nvSpPr>
        <p:spPr>
          <a:xfrm>
            <a:off x="10807293" y="4434840"/>
            <a:ext cx="1371600" cy="1371600"/>
          </a:xfrm>
          <a:prstGeom prst="roundRect">
            <a:avLst>
              <a:gd name="adj" fmla="val 18000"/>
            </a:avLst>
          </a:prstGeom>
          <a:solidFill>
            <a:srgbClr val="E8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50193" y="4777740"/>
            <a:ext cx="685800" cy="685800"/>
          </a:xfrm>
          <a:prstGeom prst="rect">
            <a:avLst/>
          </a:prstGeom>
        </p:spPr>
      </p:pic>
      <p:sp>
        <p:nvSpPr>
          <p:cNvPr id="42" name="Rounded Rectangle 41"/>
          <p:cNvSpPr/>
          <p:nvPr/>
        </p:nvSpPr>
        <p:spPr>
          <a:xfrm>
            <a:off x="15506395" y="4434840"/>
            <a:ext cx="1371600" cy="1371600"/>
          </a:xfrm>
          <a:prstGeom prst="roundRect">
            <a:avLst>
              <a:gd name="adj" fmla="val 18000"/>
            </a:avLst>
          </a:prstGeom>
          <a:solidFill>
            <a:srgbClr val="E8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849295" y="4777740"/>
            <a:ext cx="685800" cy="685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FFFFFF">
                  <a:alpha val="100000"/>
                </a:srgbClr>
              </a:gs>
              <a:gs pos="100000">
                <a:srgbClr val="F4F5F7">
                  <a:alpha val="100000"/>
                </a:srgbClr>
              </a:gs>
            </a:gsLst>
            <a:lin ang="4200000" scaled="0"/>
          </a:gra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143000" y="914400"/>
            <a:ext cx="731520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90" kern="0" dirty="0" i="0">
                <a:solidFill>
                  <a:srgbClr val="6B6E73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安心してお使いいただくために</a:t>
            </a:r>
            <a:endParaRPr lang="en-US" sz="1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970448" y="342900"/>
            <a:ext cx="1974652" cy="104775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43000" y="1552575"/>
            <a:ext cx="1760220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800" b="1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契約条件とサポート体制</a:t>
            </a:r>
            <a:endParaRPr lang="en-US" sz="4800" dirty="0"/>
          </a:p>
        </p:txBody>
      </p:sp>
      <p:sp>
        <p:nvSpPr>
          <p:cNvPr id="31" name="Text 28"/>
          <p:cNvSpPr/>
          <p:nvPr/>
        </p:nvSpPr>
        <p:spPr>
          <a:xfrm>
            <a:off x="1143000" y="2742249"/>
            <a:ext cx="829818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 i="0">
                <a:solidFill>
                  <a:srgbClr val="026881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契約条件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1143000" y="4755451"/>
            <a:ext cx="7543800" cy="9525"/>
          </a:xfrm>
          <a:prstGeom prst="rect">
            <a:avLst/>
          </a:prstGeom>
          <a:solidFill>
            <a:srgbClr val="E3E1DB"/>
          </a:solidFill>
          <a:ln/>
        </p:spPr>
        <p:txBody>
          <a:bodyPr/>
          <a:p/>
        </p:txBody>
      </p:sp>
      <p:sp>
        <p:nvSpPr>
          <p:cNvPr id="33" name="Text 30"/>
          <p:cNvSpPr/>
          <p:nvPr/>
        </p:nvSpPr>
        <p:spPr>
          <a:xfrm>
            <a:off x="1143000" y="4204906"/>
            <a:ext cx="106680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 i="0">
                <a:solidFill>
                  <a:srgbClr val="6B6E73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契約期間</a:t>
            </a:r>
            <a:endParaRPr lang="en-US" sz="1950" dirty="0"/>
          </a:p>
        </p:txBody>
      </p:sp>
      <p:sp>
        <p:nvSpPr>
          <p:cNvPr id="34" name="Text 31"/>
          <p:cNvSpPr/>
          <p:nvPr/>
        </p:nvSpPr>
        <p:spPr>
          <a:xfrm>
            <a:off x="7035254" y="4204906"/>
            <a:ext cx="181670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3ヶ月〜24ヶ月</a:t>
            </a:r>
            <a:endParaRPr lang="en-US" sz="1950" dirty="0"/>
          </a:p>
        </p:txBody>
      </p:sp>
      <p:sp>
        <p:nvSpPr>
          <p:cNvPr id="35" name="Shape 32"/>
          <p:cNvSpPr/>
          <p:nvPr/>
        </p:nvSpPr>
        <p:spPr>
          <a:xfrm>
            <a:off x="1143000" y="6400610"/>
            <a:ext cx="7543800" cy="9525"/>
          </a:xfrm>
          <a:prstGeom prst="rect">
            <a:avLst/>
          </a:prstGeom>
          <a:solidFill>
            <a:srgbClr val="E3E1DB"/>
          </a:solidFill>
          <a:ln/>
        </p:spPr>
        <p:txBody>
          <a:bodyPr/>
          <a:p/>
        </p:txBody>
      </p:sp>
      <p:sp>
        <p:nvSpPr>
          <p:cNvPr id="36" name="Text 33"/>
          <p:cNvSpPr/>
          <p:nvPr/>
        </p:nvSpPr>
        <p:spPr>
          <a:xfrm>
            <a:off x="1143000" y="5850065"/>
            <a:ext cx="106680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 i="0">
                <a:solidFill>
                  <a:srgbClr val="6B6E73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途中解約</a:t>
            </a:r>
            <a:endParaRPr lang="en-US" sz="1950" dirty="0"/>
          </a:p>
        </p:txBody>
      </p:sp>
      <p:sp>
        <p:nvSpPr>
          <p:cNvPr id="37" name="Text 34"/>
          <p:cNvSpPr/>
          <p:nvPr/>
        </p:nvSpPr>
        <p:spPr>
          <a:xfrm>
            <a:off x="6815435" y="5850065"/>
            <a:ext cx="2058501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2ヶ月前申請で可</a:t>
            </a:r>
            <a:endParaRPr lang="en-US" sz="1950" dirty="0"/>
          </a:p>
        </p:txBody>
      </p:sp>
      <p:sp>
        <p:nvSpPr>
          <p:cNvPr id="38" name="Shape 35"/>
          <p:cNvSpPr/>
          <p:nvPr/>
        </p:nvSpPr>
        <p:spPr>
          <a:xfrm>
            <a:off x="1143000" y="9005888"/>
            <a:ext cx="7543800" cy="9525"/>
          </a:xfrm>
          <a:prstGeom prst="rect">
            <a:avLst/>
          </a:prstGeom>
          <a:solidFill>
            <a:srgbClr val="E3E1DB"/>
          </a:solidFill>
          <a:ln/>
        </p:spPr>
        <p:txBody>
          <a:bodyPr/>
          <a:p/>
        </p:txBody>
      </p:sp>
      <p:sp>
        <p:nvSpPr>
          <p:cNvPr id="39" name="Text 36"/>
          <p:cNvSpPr/>
          <p:nvPr/>
        </p:nvSpPr>
        <p:spPr>
          <a:xfrm>
            <a:off x="1143000" y="7495222"/>
            <a:ext cx="1362075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 i="0">
                <a:solidFill>
                  <a:srgbClr val="6B6E73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契約終了後</a:t>
            </a:r>
            <a:endParaRPr lang="en-US" sz="1950" dirty="0"/>
          </a:p>
        </p:txBody>
      </p:sp>
      <p:sp>
        <p:nvSpPr>
          <p:cNvPr id="40" name="Text 37"/>
          <p:cNvSpPr/>
          <p:nvPr/>
        </p:nvSpPr>
        <p:spPr>
          <a:xfrm>
            <a:off x="5715000" y="7495222"/>
            <a:ext cx="326898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ご返送（送料お客様負担）</a:t>
            </a:r>
            <a:endParaRPr lang="en-US" sz="1950" dirty="0"/>
          </a:p>
        </p:txBody>
      </p:sp>
      <p:sp>
        <p:nvSpPr>
          <p:cNvPr id="41" name="Text 38"/>
          <p:cNvSpPr/>
          <p:nvPr/>
        </p:nvSpPr>
        <p:spPr>
          <a:xfrm>
            <a:off x="9601200" y="2742249"/>
            <a:ext cx="829818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 i="0">
                <a:solidFill>
                  <a:srgbClr val="026881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サポート体制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9601200" y="4755451"/>
            <a:ext cx="7543800" cy="9525"/>
          </a:xfrm>
          <a:prstGeom prst="rect">
            <a:avLst/>
          </a:prstGeom>
          <a:solidFill>
            <a:srgbClr val="E3E1DB"/>
          </a:solidFill>
          <a:ln/>
        </p:spPr>
        <p:txBody>
          <a:bodyPr/>
          <a:p/>
        </p:txBody>
      </p:sp>
      <p:sp>
        <p:nvSpPr>
          <p:cNvPr id="43" name="Text 40"/>
          <p:cNvSpPr/>
          <p:nvPr/>
        </p:nvSpPr>
        <p:spPr>
          <a:xfrm>
            <a:off x="9601200" y="4204906"/>
            <a:ext cx="1362075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 i="0">
                <a:solidFill>
                  <a:srgbClr val="6B6E73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メール対応</a:t>
            </a:r>
            <a:endParaRPr lang="en-US" sz="1950" dirty="0"/>
          </a:p>
        </p:txBody>
      </p:sp>
      <p:sp>
        <p:nvSpPr>
          <p:cNvPr id="44" name="Text 41"/>
          <p:cNvSpPr/>
          <p:nvPr/>
        </p:nvSpPr>
        <p:spPr>
          <a:xfrm>
            <a:off x="15768935" y="4204906"/>
            <a:ext cx="1513671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3営業日以内</a:t>
            </a:r>
            <a:endParaRPr lang="en-US" sz="1950" dirty="0"/>
          </a:p>
        </p:txBody>
      </p:sp>
      <p:sp>
        <p:nvSpPr>
          <p:cNvPr id="45" name="Shape 42"/>
          <p:cNvSpPr/>
          <p:nvPr/>
        </p:nvSpPr>
        <p:spPr>
          <a:xfrm>
            <a:off x="9601200" y="6400610"/>
            <a:ext cx="7543800" cy="9525"/>
          </a:xfrm>
          <a:prstGeom prst="rect">
            <a:avLst/>
          </a:prstGeom>
          <a:solidFill>
            <a:srgbClr val="E3E1DB"/>
          </a:solidFill>
          <a:ln/>
        </p:spPr>
        <p:txBody>
          <a:bodyPr/>
          <a:p/>
        </p:txBody>
      </p:sp>
      <p:sp>
        <p:nvSpPr>
          <p:cNvPr id="46" name="Text 43"/>
          <p:cNvSpPr/>
          <p:nvPr/>
        </p:nvSpPr>
        <p:spPr>
          <a:xfrm>
            <a:off x="9601200" y="5850065"/>
            <a:ext cx="1906905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 i="0">
                <a:solidFill>
                  <a:srgbClr val="6B6E73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オンライン対応</a:t>
            </a:r>
            <a:endParaRPr lang="en-US" sz="1950" dirty="0"/>
          </a:p>
        </p:txBody>
      </p:sp>
      <p:sp>
        <p:nvSpPr>
          <p:cNvPr id="47" name="Text 44"/>
          <p:cNvSpPr/>
          <p:nvPr/>
        </p:nvSpPr>
        <p:spPr>
          <a:xfrm>
            <a:off x="15548074" y="5850065"/>
            <a:ext cx="1756618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¥10,000 / 時間</a:t>
            </a:r>
            <a:endParaRPr lang="en-US" sz="1950" dirty="0"/>
          </a:p>
        </p:txBody>
      </p:sp>
      <p:sp>
        <p:nvSpPr>
          <p:cNvPr id="48" name="Shape 45"/>
          <p:cNvSpPr/>
          <p:nvPr/>
        </p:nvSpPr>
        <p:spPr>
          <a:xfrm>
            <a:off x="9601200" y="9005888"/>
            <a:ext cx="7543800" cy="9525"/>
          </a:xfrm>
          <a:prstGeom prst="rect">
            <a:avLst/>
          </a:prstGeom>
          <a:solidFill>
            <a:srgbClr val="E3E1DB"/>
          </a:solidFill>
          <a:ln/>
        </p:spPr>
        <p:txBody>
          <a:bodyPr/>
          <a:p/>
        </p:txBody>
      </p:sp>
      <p:sp>
        <p:nvSpPr>
          <p:cNvPr id="49" name="Text 46"/>
          <p:cNvSpPr/>
          <p:nvPr/>
        </p:nvSpPr>
        <p:spPr>
          <a:xfrm>
            <a:off x="9601200" y="7495222"/>
            <a:ext cx="106680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 i="0">
                <a:solidFill>
                  <a:srgbClr val="6B6E73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訪問対応</a:t>
            </a:r>
            <a:endParaRPr lang="en-US" sz="1950" dirty="0"/>
          </a:p>
        </p:txBody>
      </p:sp>
      <p:sp>
        <p:nvSpPr>
          <p:cNvPr id="50" name="Text 47"/>
          <p:cNvSpPr/>
          <p:nvPr/>
        </p:nvSpPr>
        <p:spPr>
          <a:xfrm>
            <a:off x="15657909" y="7495222"/>
            <a:ext cx="163580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¥100,000 / 日</a:t>
            </a:r>
            <a:endParaRPr lang="en-US" sz="1950" dirty="0"/>
          </a:p>
        </p:txBody>
      </p:sp>
      <p:sp>
        <p:nvSpPr>
          <p:cNvPr id="51" name="Shape 48"/>
          <p:cNvSpPr/>
          <p:nvPr/>
        </p:nvSpPr>
        <p:spPr>
          <a:xfrm>
            <a:off x="0" y="9496425"/>
            <a:ext cx="18288000" cy="790575"/>
          </a:xfrm>
          <a:prstGeom prst="rect">
            <a:avLst/>
          </a:prstGeom>
          <a:solidFill>
            <a:srgbClr val="026881"/>
          </a:solidFill>
          <a:ln/>
        </p:spPr>
        <p:txBody>
          <a:bodyPr/>
          <a:p/>
        </p:txBody>
      </p:sp>
      <p:sp>
        <p:nvSpPr>
          <p:cNvPr id="52" name="Text 49"/>
          <p:cNvSpPr/>
          <p:nvPr/>
        </p:nvSpPr>
        <p:spPr>
          <a:xfrm>
            <a:off x="1143000" y="9725025"/>
            <a:ext cx="1716018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 i="0">
                <a:solidFill>
                  <a:srgbClr val="FFFFFF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株式会社RIGEL</a:t>
            </a:r>
            <a:endParaRPr lang="en-US" sz="1800" dirty="0"/>
          </a:p>
        </p:txBody>
      </p:sp>
      <p:sp>
        <p:nvSpPr>
          <p:cNvPr id="53" name="Text 50"/>
          <p:cNvSpPr/>
          <p:nvPr/>
        </p:nvSpPr>
        <p:spPr>
          <a:xfrm>
            <a:off x="11871722" y="9725025"/>
            <a:ext cx="5800606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 i="0">
                <a:solidFill>
                  <a:srgbClr val="FFFFFF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千葉県柏市／rigel-works.jp／info@rigel-works.jp</a:t>
            </a:r>
            <a:endParaRPr lang="en-US" sz="1800" dirty="0"/>
          </a:p>
        </p:txBody>
      </p:sp>
      <p:pic>
        <p:nvPicPr>
          <p:cNvPr id="60" name="Picture 59" descr="s5_calend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" y="4169663"/>
            <a:ext cx="457200" cy="457200"/>
          </a:xfrm>
          <a:prstGeom prst="rect">
            <a:avLst/>
          </a:prstGeom>
        </p:spPr>
      </p:pic>
      <p:pic>
        <p:nvPicPr>
          <p:cNvPr id="61" name="Picture 60" descr="s5_rot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624" y="5815584"/>
            <a:ext cx="457200" cy="457200"/>
          </a:xfrm>
          <a:prstGeom prst="rect">
            <a:avLst/>
          </a:prstGeom>
        </p:spPr>
      </p:pic>
      <p:pic>
        <p:nvPicPr>
          <p:cNvPr id="62" name="Picture 61" descr="s5_retur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0624" y="7461503"/>
            <a:ext cx="457200" cy="457200"/>
          </a:xfrm>
          <a:prstGeom prst="rect">
            <a:avLst/>
          </a:prstGeom>
        </p:spPr>
      </p:pic>
      <p:pic>
        <p:nvPicPr>
          <p:cNvPr id="63" name="Picture 62" descr="s5_mai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78824" y="4169663"/>
            <a:ext cx="457200" cy="457200"/>
          </a:xfrm>
          <a:prstGeom prst="rect">
            <a:avLst/>
          </a:prstGeom>
        </p:spPr>
      </p:pic>
      <p:pic>
        <p:nvPicPr>
          <p:cNvPr id="64" name="Picture 63" descr="s5_onlin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78824" y="5815584"/>
            <a:ext cx="457200" cy="457200"/>
          </a:xfrm>
          <a:prstGeom prst="rect">
            <a:avLst/>
          </a:prstGeom>
        </p:spPr>
      </p:pic>
      <p:pic>
        <p:nvPicPr>
          <p:cNvPr id="65" name="Picture 64" descr="s5_visi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78824" y="7461503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2026-08-05T14:11:02Z</dcterms:created>
  <dcterms:modified xsi:type="dcterms:W3CDTF">2026-08-05T14:11:02Z</dcterms:modified>
</cp:coreProperties>
</file>