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2-2.webp" ContentType="image/webp"/>
  <Override PartName="/ppt/media/image-2-3.webp" ContentType="image/webp"/>
  <Override PartName="/ppt/media/image-2-4.webp" ContentType="image/webp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11"/>
  </p:sldIdLst>
  <p:notesMasterIdLst>
    <p:notesMasterId r:id="rId6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RTSの概要とキャッチコピーを紹介する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自動化が進まない理由、よくある課題への答え、RTSの3つの発想の転換を説明する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4つのプランの学習範囲・月額・初期費用を比較する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導入の流れ、契約条件、サポート体制、会社概要を伝える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webp"/><Relationship Id="rId3" Type="http://schemas.openxmlformats.org/officeDocument/2006/relationships/image" Target="../media/image-2-3.webp"/><Relationship Id="rId4" Type="http://schemas.openxmlformats.org/officeDocument/2006/relationships/image" Target="../media/image-2-4.webp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FFFFFF">
                  <a:alpha val="100000"/>
                </a:srgbClr>
              </a:gs>
              <a:gs pos="100000">
                <a:srgbClr val="F4F5F7">
                  <a:alpha val="100000"/>
                </a:srgbClr>
              </a:gs>
            </a:gsLst>
            <a:lin ang="4200000" scaled="0"/>
          </a:gradFill>
          <a:ln/>
        </p:spPr>
      </p:sp>
      <p:sp>
        <p:nvSpPr>
          <p:cNvPr id="3" name="Text 1"/>
          <p:cNvSpPr/>
          <p:nvPr/>
        </p:nvSpPr>
        <p:spPr>
          <a:xfrm>
            <a:off x="1143000" y="914400"/>
            <a:ext cx="4481096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90" kern="0" dirty="0">
                <a:solidFill>
                  <a:srgbClr val="6B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卓上型ロボット教育レンタルシステム</a:t>
            </a:r>
            <a:endParaRPr lang="en-US" sz="1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70448" y="342900"/>
            <a:ext cx="1974652" cy="104775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43000" y="2586930"/>
            <a:ext cx="9000664" cy="1562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0796"/>
              </a:lnSpc>
              <a:buNone/>
            </a:pPr>
            <a:r>
              <a:rPr lang="en-US" sz="12000" b="1" dirty="0">
                <a:solidFill>
                  <a:srgbClr val="17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RTS</a:t>
            </a:r>
            <a:endParaRPr lang="en-US" sz="12000" dirty="0"/>
          </a:p>
        </p:txBody>
      </p:sp>
      <p:sp>
        <p:nvSpPr>
          <p:cNvPr id="6" name="Text 3"/>
          <p:cNvSpPr/>
          <p:nvPr/>
        </p:nvSpPr>
        <p:spPr>
          <a:xfrm>
            <a:off x="1143000" y="4263330"/>
            <a:ext cx="9000664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spc="120" kern="0" dirty="0">
                <a:solidFill>
                  <a:srgbClr val="6B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 Training System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1143000" y="5425380"/>
            <a:ext cx="9000664" cy="7314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200" b="1" dirty="0">
                <a:solidFill>
                  <a:srgbClr val="17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設備を買う前に、人を育てる。</a:t>
            </a:r>
            <a:endParaRPr lang="en-US" sz="4200" dirty="0"/>
          </a:p>
        </p:txBody>
      </p:sp>
      <p:sp>
        <p:nvSpPr>
          <p:cNvPr id="8" name="Shape 5"/>
          <p:cNvSpPr/>
          <p:nvPr/>
        </p:nvSpPr>
        <p:spPr>
          <a:xfrm>
            <a:off x="1143000" y="7223671"/>
            <a:ext cx="3752404" cy="933450"/>
          </a:xfrm>
          <a:prstGeom prst="rect">
            <a:avLst/>
          </a:prstGeom>
          <a:solidFill>
            <a:srgbClr val="026881"/>
          </a:solidFill>
          <a:ln/>
        </p:spPr>
      </p:sp>
      <p:sp>
        <p:nvSpPr>
          <p:cNvPr id="9" name="Text 6"/>
          <p:cNvSpPr/>
          <p:nvPr/>
        </p:nvSpPr>
        <p:spPr>
          <a:xfrm>
            <a:off x="1600200" y="7414171"/>
            <a:ext cx="2950576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月額 ¥120,000〜</a:t>
            </a:r>
            <a:endParaRPr lang="en-US" sz="30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rcRect l="-15809" r="-15809" t="0" b="0"/>
          <a:stretch/>
        </p:blipFill>
        <p:spPr>
          <a:xfrm>
            <a:off x="9706421" y="2324100"/>
            <a:ext cx="7438579" cy="60960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0" y="9496425"/>
            <a:ext cx="18288000" cy="790575"/>
          </a:xfrm>
          <a:prstGeom prst="rect">
            <a:avLst/>
          </a:prstGeom>
          <a:solidFill>
            <a:srgbClr val="026881"/>
          </a:solidFill>
          <a:ln/>
        </p:spPr>
      </p:sp>
      <p:sp>
        <p:nvSpPr>
          <p:cNvPr id="12" name="Text 8"/>
          <p:cNvSpPr/>
          <p:nvPr/>
        </p:nvSpPr>
        <p:spPr>
          <a:xfrm>
            <a:off x="1143000" y="9725025"/>
            <a:ext cx="1716018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株式会社RIGEL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533400"/>
            <a:ext cx="3696593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90" kern="0" dirty="0">
                <a:solidFill>
                  <a:srgbClr val="6B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自動化が進まない、本当の理由</a:t>
            </a:r>
            <a:endParaRPr lang="en-US" sz="18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29422" y="304800"/>
            <a:ext cx="1615678" cy="8572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1057275"/>
            <a:ext cx="17602200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7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設備より、人。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1143000" y="1800225"/>
            <a:ext cx="1760220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6B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自動化の前提は、設備ではありません。それを扱える、自社の技術者です。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1143000" y="2752725"/>
            <a:ext cx="16002000" cy="19050"/>
          </a:xfrm>
          <a:prstGeom prst="rect">
            <a:avLst/>
          </a:prstGeom>
          <a:solidFill>
            <a:srgbClr val="17181A"/>
          </a:solidFill>
          <a:ln/>
        </p:spPr>
      </p:sp>
      <p:sp>
        <p:nvSpPr>
          <p:cNvPr id="7" name="Text 4"/>
          <p:cNvSpPr/>
          <p:nvPr/>
        </p:nvSpPr>
        <p:spPr>
          <a:xfrm>
            <a:off x="1143000" y="2324100"/>
            <a:ext cx="846582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90" kern="0" dirty="0">
                <a:solidFill>
                  <a:srgbClr val="6B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よくある課題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448800" y="2324100"/>
            <a:ext cx="846582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90" kern="0" dirty="0">
                <a:solidFill>
                  <a:srgbClr val="0268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RTSの答え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1143000" y="3295650"/>
            <a:ext cx="16002000" cy="9525"/>
          </a:xfrm>
          <a:prstGeom prst="rect">
            <a:avLst/>
          </a:prstGeom>
          <a:solidFill>
            <a:srgbClr val="E3E1DB"/>
          </a:solidFill>
          <a:ln/>
        </p:spPr>
      </p:sp>
      <p:sp>
        <p:nvSpPr>
          <p:cNvPr id="10" name="Text 7"/>
          <p:cNvSpPr/>
          <p:nvPr/>
        </p:nvSpPr>
        <p:spPr>
          <a:xfrm>
            <a:off x="1143000" y="2867025"/>
            <a:ext cx="846582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7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設備を導入したが、誰も触れない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9448800" y="2867025"/>
            <a:ext cx="846582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268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先に人を育ててから設備を選ぶ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1143000" y="3829050"/>
            <a:ext cx="16002000" cy="9525"/>
          </a:xfrm>
          <a:prstGeom prst="rect">
            <a:avLst/>
          </a:prstGeom>
          <a:solidFill>
            <a:srgbClr val="E3E1DB"/>
          </a:solidFill>
          <a:ln/>
        </p:spPr>
      </p:sp>
      <p:sp>
        <p:nvSpPr>
          <p:cNvPr id="13" name="Text 10"/>
          <p:cNvSpPr/>
          <p:nvPr/>
        </p:nvSpPr>
        <p:spPr>
          <a:xfrm>
            <a:off x="1143000" y="3400425"/>
            <a:ext cx="846582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7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生産ラインを止めて教育はできない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9448800" y="3400425"/>
            <a:ext cx="846582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268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教育専用設備を別に置くので現場に影響しない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1143000" y="4362450"/>
            <a:ext cx="16002000" cy="9525"/>
          </a:xfrm>
          <a:prstGeom prst="rect">
            <a:avLst/>
          </a:prstGeom>
          <a:solidFill>
            <a:srgbClr val="E3E1DB"/>
          </a:solidFill>
          <a:ln/>
        </p:spPr>
      </p:sp>
      <p:sp>
        <p:nvSpPr>
          <p:cNvPr id="16" name="Text 13"/>
          <p:cNvSpPr/>
          <p:nvPr/>
        </p:nvSpPr>
        <p:spPr>
          <a:xfrm>
            <a:off x="1143000" y="3933825"/>
            <a:ext cx="846582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7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外部研修は単発で、身につかない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9448800" y="3933825"/>
            <a:ext cx="846582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268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月額で手元に置き続けるから積み上がる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1143000" y="4895850"/>
            <a:ext cx="16002000" cy="9525"/>
          </a:xfrm>
          <a:prstGeom prst="rect">
            <a:avLst/>
          </a:prstGeom>
          <a:solidFill>
            <a:srgbClr val="E3E1DB"/>
          </a:solidFill>
          <a:ln/>
        </p:spPr>
      </p:sp>
      <p:sp>
        <p:nvSpPr>
          <p:cNvPr id="19" name="Text 16"/>
          <p:cNvSpPr/>
          <p:nvPr/>
        </p:nvSpPr>
        <p:spPr>
          <a:xfrm>
            <a:off x="1143000" y="4467225"/>
            <a:ext cx="846582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7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故障が怖くて触らせられない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9448800" y="4467225"/>
            <a:ext cx="846582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268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"壊す→直す"を教材にする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343252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90" kern="0" dirty="0">
                <a:solidFill>
                  <a:srgbClr val="6B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必要な範囲から、始められる</a:t>
            </a:r>
            <a:endParaRPr lang="en-US" sz="18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70448" y="342900"/>
            <a:ext cx="1974652" cy="10477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1552575"/>
            <a:ext cx="17602200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7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4つのプラン</a:t>
            </a:r>
            <a:endParaRPr lang="en-US" sz="4200" dirty="0"/>
          </a:p>
        </p:txBody>
      </p:sp>
      <p:sp>
        <p:nvSpPr>
          <p:cNvPr id="5" name="Shape 2"/>
          <p:cNvSpPr/>
          <p:nvPr/>
        </p:nvSpPr>
        <p:spPr>
          <a:xfrm>
            <a:off x="1143000" y="3305175"/>
            <a:ext cx="14287500" cy="19050"/>
          </a:xfrm>
          <a:prstGeom prst="rect">
            <a:avLst/>
          </a:prstGeom>
          <a:solidFill>
            <a:srgbClr val="17181A"/>
          </a:solidFill>
          <a:ln/>
        </p:spPr>
      </p:sp>
      <p:sp>
        <p:nvSpPr>
          <p:cNvPr id="6" name="Text 3"/>
          <p:cNvSpPr/>
          <p:nvPr/>
        </p:nvSpPr>
        <p:spPr>
          <a:xfrm>
            <a:off x="1143000" y="2838450"/>
            <a:ext cx="2720221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B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グレード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3844528" y="2838450"/>
            <a:ext cx="544076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B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学習範囲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019282" y="2838450"/>
            <a:ext cx="408049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B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月額リース料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2957423" y="2838450"/>
            <a:ext cx="2720221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B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初期費用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1143000" y="4038600"/>
            <a:ext cx="14287500" cy="9525"/>
          </a:xfrm>
          <a:prstGeom prst="rect">
            <a:avLst/>
          </a:prstGeom>
          <a:solidFill>
            <a:srgbClr val="E3E1DB"/>
          </a:solidFill>
          <a:ln/>
        </p:spPr>
      </p:sp>
      <p:sp>
        <p:nvSpPr>
          <p:cNvPr id="11" name="Text 8"/>
          <p:cNvSpPr/>
          <p:nvPr/>
        </p:nvSpPr>
        <p:spPr>
          <a:xfrm>
            <a:off x="1143000" y="3529013"/>
            <a:ext cx="2720221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268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3844528" y="3514725"/>
            <a:ext cx="544076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7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センサー / 空圧機器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9019282" y="3514725"/>
            <a:ext cx="408049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¥120,000 /月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2957423" y="3514725"/>
            <a:ext cx="2720221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7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100,000-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1143000" y="4762500"/>
            <a:ext cx="14287500" cy="9525"/>
          </a:xfrm>
          <a:prstGeom prst="rect">
            <a:avLst/>
          </a:prstGeom>
          <a:solidFill>
            <a:srgbClr val="E3E1DB"/>
          </a:solidFill>
          <a:ln/>
        </p:spPr>
      </p:sp>
      <p:sp>
        <p:nvSpPr>
          <p:cNvPr id="16" name="Text 13"/>
          <p:cNvSpPr/>
          <p:nvPr/>
        </p:nvSpPr>
        <p:spPr>
          <a:xfrm>
            <a:off x="1143000" y="4252913"/>
            <a:ext cx="2720221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268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</a:t>
            </a:r>
            <a:endParaRPr lang="en-US" sz="2100" dirty="0"/>
          </a:p>
        </p:txBody>
      </p:sp>
      <p:sp>
        <p:nvSpPr>
          <p:cNvPr id="17" name="Text 14"/>
          <p:cNvSpPr/>
          <p:nvPr/>
        </p:nvSpPr>
        <p:spPr>
          <a:xfrm>
            <a:off x="3844528" y="4238625"/>
            <a:ext cx="544076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7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通信関係（シリアル、Ethernet I/P）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9019282" y="4238625"/>
            <a:ext cx="408049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¥198,000 /月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12957423" y="4238625"/>
            <a:ext cx="2720221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7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150,000-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1143000" y="5486400"/>
            <a:ext cx="14287500" cy="9525"/>
          </a:xfrm>
          <a:prstGeom prst="rect">
            <a:avLst/>
          </a:prstGeom>
          <a:solidFill>
            <a:srgbClr val="E3E1DB"/>
          </a:solidFill>
          <a:ln/>
        </p:spPr>
      </p:sp>
      <p:sp>
        <p:nvSpPr>
          <p:cNvPr id="21" name="Text 18"/>
          <p:cNvSpPr/>
          <p:nvPr/>
        </p:nvSpPr>
        <p:spPr>
          <a:xfrm>
            <a:off x="1143000" y="4976813"/>
            <a:ext cx="2720221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268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</a:t>
            </a:r>
            <a:endParaRPr lang="en-US" sz="2100" dirty="0"/>
          </a:p>
        </p:txBody>
      </p:sp>
      <p:sp>
        <p:nvSpPr>
          <p:cNvPr id="22" name="Text 19"/>
          <p:cNvSpPr/>
          <p:nvPr/>
        </p:nvSpPr>
        <p:spPr>
          <a:xfrm>
            <a:off x="3844528" y="4962525"/>
            <a:ext cx="544076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7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画像処理（位置補正、検査）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9019282" y="4962525"/>
            <a:ext cx="408049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¥298,000 /月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12957423" y="4962525"/>
            <a:ext cx="2720221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7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200,000-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1143000" y="6210300"/>
            <a:ext cx="14287500" cy="9525"/>
          </a:xfrm>
          <a:prstGeom prst="rect">
            <a:avLst/>
          </a:prstGeom>
          <a:solidFill>
            <a:srgbClr val="E3E1DB"/>
          </a:solidFill>
          <a:ln/>
        </p:spPr>
      </p:sp>
      <p:sp>
        <p:nvSpPr>
          <p:cNvPr id="26" name="Text 23"/>
          <p:cNvSpPr/>
          <p:nvPr/>
        </p:nvSpPr>
        <p:spPr>
          <a:xfrm>
            <a:off x="1143000" y="5700713"/>
            <a:ext cx="2720221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268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PROFESSIONAL</a:t>
            </a:r>
            <a:endParaRPr lang="en-US" sz="2100" dirty="0"/>
          </a:p>
        </p:txBody>
      </p:sp>
      <p:sp>
        <p:nvSpPr>
          <p:cNvPr id="27" name="Text 24"/>
          <p:cNvSpPr/>
          <p:nvPr/>
        </p:nvSpPr>
        <p:spPr>
          <a:xfrm>
            <a:off x="3844528" y="5686425"/>
            <a:ext cx="544076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7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サーボ制御を含む全範囲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9019282" y="5686425"/>
            <a:ext cx="408049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¥398,000 /月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12957423" y="5686425"/>
            <a:ext cx="2720221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7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250,000-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1143000" y="6524625"/>
            <a:ext cx="15716250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6B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お客様の学習内容に合わせてプランをご用意しており、技術力向上に貢献致します。</a:t>
            </a:r>
            <a:endParaRPr lang="en-US" sz="1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FFFFFF">
                  <a:alpha val="100000"/>
                </a:srgbClr>
              </a:gs>
              <a:gs pos="100000">
                <a:srgbClr val="F4F5F7">
                  <a:alpha val="100000"/>
                </a:srgbClr>
              </a:gs>
            </a:gsLst>
            <a:lin ang="4200000" scaled="0"/>
          </a:gradFill>
          <a:ln/>
        </p:spPr>
      </p:sp>
      <p:sp>
        <p:nvSpPr>
          <p:cNvPr id="3" name="Text 1"/>
          <p:cNvSpPr/>
          <p:nvPr/>
        </p:nvSpPr>
        <p:spPr>
          <a:xfrm>
            <a:off x="1143000" y="914400"/>
            <a:ext cx="2112362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90" kern="0" dirty="0">
                <a:solidFill>
                  <a:srgbClr val="6B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届いたその日から</a:t>
            </a:r>
            <a:endParaRPr lang="en-US" sz="1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70448" y="342900"/>
            <a:ext cx="1974652" cy="104775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43000" y="1552575"/>
            <a:ext cx="176022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17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導入の流れ</a:t>
            </a:r>
            <a:endParaRPr lang="en-US" sz="4800" dirty="0"/>
          </a:p>
        </p:txBody>
      </p:sp>
      <p:sp>
        <p:nvSpPr>
          <p:cNvPr id="6" name="Shape 3"/>
          <p:cNvSpPr/>
          <p:nvPr/>
        </p:nvSpPr>
        <p:spPr>
          <a:xfrm>
            <a:off x="1828800" y="2962275"/>
            <a:ext cx="533400" cy="533400"/>
          </a:xfrm>
          <a:prstGeom prst="ellipse">
            <a:avLst/>
          </a:prstGeom>
          <a:solidFill>
            <a:srgbClr val="026881"/>
          </a:solidFill>
          <a:ln/>
        </p:spPr>
      </p:sp>
      <p:sp>
        <p:nvSpPr>
          <p:cNvPr id="7" name="Text 4"/>
          <p:cNvSpPr/>
          <p:nvPr/>
        </p:nvSpPr>
        <p:spPr>
          <a:xfrm>
            <a:off x="1790700" y="2962275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341120" y="3609975"/>
            <a:ext cx="150876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キットが届く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3048000" y="3228975"/>
            <a:ext cx="2793950" cy="19050"/>
          </a:xfrm>
          <a:prstGeom prst="rect">
            <a:avLst/>
          </a:prstGeom>
          <a:solidFill>
            <a:srgbClr val="E3E1DB"/>
          </a:solidFill>
          <a:ln/>
        </p:spPr>
      </p:sp>
      <p:sp>
        <p:nvSpPr>
          <p:cNvPr id="10" name="Shape 7"/>
          <p:cNvSpPr/>
          <p:nvPr/>
        </p:nvSpPr>
        <p:spPr>
          <a:xfrm>
            <a:off x="6527750" y="2962275"/>
            <a:ext cx="533400" cy="533400"/>
          </a:xfrm>
          <a:prstGeom prst="ellipse">
            <a:avLst/>
          </a:prstGeom>
          <a:solidFill>
            <a:srgbClr val="026881"/>
          </a:solidFill>
          <a:ln/>
        </p:spPr>
      </p:sp>
      <p:sp>
        <p:nvSpPr>
          <p:cNvPr id="11" name="Text 8"/>
          <p:cNvSpPr/>
          <p:nvPr/>
        </p:nvSpPr>
        <p:spPr>
          <a:xfrm>
            <a:off x="6489650" y="2962275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6184850" y="3609975"/>
            <a:ext cx="121920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組み立てる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7746950" y="3228975"/>
            <a:ext cx="2794099" cy="19050"/>
          </a:xfrm>
          <a:prstGeom prst="rect">
            <a:avLst/>
          </a:prstGeom>
          <a:solidFill>
            <a:srgbClr val="E3E1DB"/>
          </a:solidFill>
          <a:ln/>
        </p:spPr>
      </p:sp>
      <p:sp>
        <p:nvSpPr>
          <p:cNvPr id="14" name="Shape 11"/>
          <p:cNvSpPr/>
          <p:nvPr/>
        </p:nvSpPr>
        <p:spPr>
          <a:xfrm>
            <a:off x="11226850" y="2962275"/>
            <a:ext cx="533400" cy="533400"/>
          </a:xfrm>
          <a:prstGeom prst="ellipse">
            <a:avLst/>
          </a:prstGeom>
          <a:solidFill>
            <a:srgbClr val="026881"/>
          </a:solidFill>
          <a:ln/>
        </p:spPr>
      </p:sp>
      <p:sp>
        <p:nvSpPr>
          <p:cNvPr id="15" name="Text 12"/>
          <p:cNvSpPr/>
          <p:nvPr/>
        </p:nvSpPr>
        <p:spPr>
          <a:xfrm>
            <a:off x="11188750" y="2962275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0742935" y="3609975"/>
            <a:ext cx="150122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動かして学ぶ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12446050" y="3228975"/>
            <a:ext cx="2793950" cy="19050"/>
          </a:xfrm>
          <a:prstGeom prst="rect">
            <a:avLst/>
          </a:prstGeom>
          <a:solidFill>
            <a:srgbClr val="E3E1DB"/>
          </a:solidFill>
          <a:ln/>
        </p:spPr>
      </p:sp>
      <p:sp>
        <p:nvSpPr>
          <p:cNvPr id="18" name="Shape 15"/>
          <p:cNvSpPr/>
          <p:nvPr/>
        </p:nvSpPr>
        <p:spPr>
          <a:xfrm>
            <a:off x="15925800" y="2962275"/>
            <a:ext cx="533400" cy="533400"/>
          </a:xfrm>
          <a:prstGeom prst="ellipse">
            <a:avLst/>
          </a:prstGeom>
          <a:solidFill>
            <a:srgbClr val="026881"/>
          </a:solidFill>
          <a:ln/>
        </p:spPr>
      </p:sp>
      <p:sp>
        <p:nvSpPr>
          <p:cNvPr id="19" name="Text 16"/>
          <p:cNvSpPr/>
          <p:nvPr/>
        </p:nvSpPr>
        <p:spPr>
          <a:xfrm>
            <a:off x="15887700" y="2962275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15438120" y="3609975"/>
            <a:ext cx="150876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技術者に育つ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1143000" y="5467350"/>
            <a:ext cx="16002000" cy="9525"/>
          </a:xfrm>
          <a:prstGeom prst="rect">
            <a:avLst/>
          </a:prstGeom>
          <a:solidFill>
            <a:srgbClr val="E3E1DB"/>
          </a:solidFill>
          <a:ln/>
        </p:spPr>
      </p:sp>
      <p:sp>
        <p:nvSpPr>
          <p:cNvPr id="22" name="Shape 19"/>
          <p:cNvSpPr/>
          <p:nvPr/>
        </p:nvSpPr>
        <p:spPr>
          <a:xfrm>
            <a:off x="1143000" y="4248150"/>
            <a:ext cx="16002000" cy="9525"/>
          </a:xfrm>
          <a:prstGeom prst="rect">
            <a:avLst/>
          </a:prstGeom>
          <a:solidFill>
            <a:srgbClr val="E3E1DB"/>
          </a:solidFill>
          <a:ln/>
        </p:spPr>
      </p:sp>
      <p:sp>
        <p:nvSpPr>
          <p:cNvPr id="23" name="Text 20"/>
          <p:cNvSpPr/>
          <p:nvPr/>
        </p:nvSpPr>
        <p:spPr>
          <a:xfrm>
            <a:off x="1143000" y="4448175"/>
            <a:ext cx="402336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0588"/>
              </a:lnSpc>
              <a:buNone/>
            </a:pPr>
            <a:r>
              <a:rPr lang="en-US" sz="3600" b="1" dirty="0">
                <a:solidFill>
                  <a:srgbClr val="0268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3600" dirty="0"/>
          </a:p>
        </p:txBody>
      </p:sp>
      <p:sp>
        <p:nvSpPr>
          <p:cNvPr id="24" name="Text 21"/>
          <p:cNvSpPr/>
          <p:nvPr/>
        </p:nvSpPr>
        <p:spPr>
          <a:xfrm>
            <a:off x="1143000" y="4943475"/>
            <a:ext cx="402336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STEP／体系カリキュラム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5257800" y="4448175"/>
            <a:ext cx="402336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0588"/>
              </a:lnSpc>
              <a:buNone/>
            </a:pPr>
            <a:r>
              <a:rPr lang="en-US" sz="3600" b="1" dirty="0">
                <a:solidFill>
                  <a:srgbClr val="0268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600" dirty="0"/>
          </a:p>
        </p:txBody>
      </p:sp>
      <p:sp>
        <p:nvSpPr>
          <p:cNvPr id="26" name="Text 23"/>
          <p:cNvSpPr/>
          <p:nvPr/>
        </p:nvSpPr>
        <p:spPr>
          <a:xfrm>
            <a:off x="5257800" y="4943475"/>
            <a:ext cx="402336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ヶ月〜／最短契約期間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9372600" y="4448175"/>
            <a:ext cx="402336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0588"/>
              </a:lnSpc>
              <a:buNone/>
            </a:pPr>
            <a:r>
              <a:rPr lang="en-US" sz="3600" b="1" dirty="0">
                <a:solidFill>
                  <a:srgbClr val="0268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600" dirty="0"/>
          </a:p>
        </p:txBody>
      </p:sp>
      <p:sp>
        <p:nvSpPr>
          <p:cNvPr id="28" name="Text 25"/>
          <p:cNvSpPr/>
          <p:nvPr/>
        </p:nvSpPr>
        <p:spPr>
          <a:xfrm>
            <a:off x="9372600" y="4943475"/>
            <a:ext cx="402336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営業日／サポート返信目安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13487400" y="4448175"/>
            <a:ext cx="402336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0588"/>
              </a:lnSpc>
              <a:buNone/>
            </a:pPr>
            <a:r>
              <a:rPr lang="en-US" sz="3600" b="1" dirty="0">
                <a:solidFill>
                  <a:srgbClr val="0268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3600" dirty="0"/>
          </a:p>
        </p:txBody>
      </p:sp>
      <p:sp>
        <p:nvSpPr>
          <p:cNvPr id="30" name="Text 27"/>
          <p:cNvSpPr/>
          <p:nvPr/>
        </p:nvSpPr>
        <p:spPr>
          <a:xfrm>
            <a:off x="13487400" y="4943475"/>
            <a:ext cx="402336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年／FA設備設計の実務年数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FFFFFF">
                  <a:alpha val="100000"/>
                </a:srgbClr>
              </a:gs>
              <a:gs pos="100000">
                <a:srgbClr val="F4F5F7">
                  <a:alpha val="100000"/>
                </a:srgbClr>
              </a:gs>
            </a:gsLst>
            <a:lin ang="4200000" scaled="0"/>
          </a:gradFill>
          <a:ln/>
        </p:spPr>
      </p:sp>
      <p:sp>
        <p:nvSpPr>
          <p:cNvPr id="3" name="Text 1"/>
          <p:cNvSpPr/>
          <p:nvPr/>
        </p:nvSpPr>
        <p:spPr>
          <a:xfrm>
            <a:off x="1143000" y="914400"/>
            <a:ext cx="2112362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90" kern="0" dirty="0">
                <a:solidFill>
                  <a:srgbClr val="6B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安心してお使いいただくために</a:t>
            </a:r>
            <a:endParaRPr lang="en-US" sz="1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70448" y="342900"/>
            <a:ext cx="1974652" cy="104775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43000" y="1552575"/>
            <a:ext cx="176022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17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契約条件とサポート体制</a:t>
            </a:r>
            <a:endParaRPr lang="en-US" sz="4800" dirty="0"/>
          </a:p>
        </p:txBody>
      </p:sp>
      <p:sp>
        <p:nvSpPr>
          <p:cNvPr id="31" name="Text 28"/>
          <p:cNvSpPr/>
          <p:nvPr/>
        </p:nvSpPr>
        <p:spPr>
          <a:xfrm>
            <a:off x="1143000" y="6491288"/>
            <a:ext cx="829818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268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契約条件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1143000" y="7672388"/>
            <a:ext cx="7543800" cy="9525"/>
          </a:xfrm>
          <a:prstGeom prst="rect">
            <a:avLst/>
          </a:prstGeom>
          <a:solidFill>
            <a:srgbClr val="E3E1DB"/>
          </a:solidFill>
          <a:ln/>
        </p:spPr>
      </p:sp>
      <p:sp>
        <p:nvSpPr>
          <p:cNvPr id="33" name="Text 30"/>
          <p:cNvSpPr/>
          <p:nvPr/>
        </p:nvSpPr>
        <p:spPr>
          <a:xfrm>
            <a:off x="1143000" y="7167563"/>
            <a:ext cx="10668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B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契約期間</a:t>
            </a:r>
            <a:endParaRPr lang="en-US" sz="1950" dirty="0"/>
          </a:p>
        </p:txBody>
      </p:sp>
      <p:sp>
        <p:nvSpPr>
          <p:cNvPr id="34" name="Text 31"/>
          <p:cNvSpPr/>
          <p:nvPr/>
        </p:nvSpPr>
        <p:spPr>
          <a:xfrm>
            <a:off x="7035254" y="7167563"/>
            <a:ext cx="18167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7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3ヶ月〜24ヶ月</a:t>
            </a:r>
            <a:endParaRPr lang="en-US" sz="1950" dirty="0"/>
          </a:p>
        </p:txBody>
      </p:sp>
      <p:sp>
        <p:nvSpPr>
          <p:cNvPr id="35" name="Shape 32"/>
          <p:cNvSpPr/>
          <p:nvPr/>
        </p:nvSpPr>
        <p:spPr>
          <a:xfrm>
            <a:off x="1143000" y="8339137"/>
            <a:ext cx="7543800" cy="9525"/>
          </a:xfrm>
          <a:prstGeom prst="rect">
            <a:avLst/>
          </a:prstGeom>
          <a:solidFill>
            <a:srgbClr val="E3E1DB"/>
          </a:solidFill>
          <a:ln/>
        </p:spPr>
      </p:sp>
      <p:sp>
        <p:nvSpPr>
          <p:cNvPr id="36" name="Text 33"/>
          <p:cNvSpPr/>
          <p:nvPr/>
        </p:nvSpPr>
        <p:spPr>
          <a:xfrm>
            <a:off x="1143000" y="7834313"/>
            <a:ext cx="10668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B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途中解約</a:t>
            </a:r>
            <a:endParaRPr lang="en-US" sz="1950" dirty="0"/>
          </a:p>
        </p:txBody>
      </p:sp>
      <p:sp>
        <p:nvSpPr>
          <p:cNvPr id="37" name="Text 34"/>
          <p:cNvSpPr/>
          <p:nvPr/>
        </p:nvSpPr>
        <p:spPr>
          <a:xfrm>
            <a:off x="6815435" y="7834313"/>
            <a:ext cx="2058501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7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2ヶ月前申請で可</a:t>
            </a:r>
            <a:endParaRPr lang="en-US" sz="1950" dirty="0"/>
          </a:p>
        </p:txBody>
      </p:sp>
      <p:sp>
        <p:nvSpPr>
          <p:cNvPr id="38" name="Shape 35"/>
          <p:cNvSpPr/>
          <p:nvPr/>
        </p:nvSpPr>
        <p:spPr>
          <a:xfrm>
            <a:off x="1143000" y="9005888"/>
            <a:ext cx="7543800" cy="9525"/>
          </a:xfrm>
          <a:prstGeom prst="rect">
            <a:avLst/>
          </a:prstGeom>
          <a:solidFill>
            <a:srgbClr val="E3E1DB"/>
          </a:solidFill>
          <a:ln/>
        </p:spPr>
      </p:sp>
      <p:sp>
        <p:nvSpPr>
          <p:cNvPr id="39" name="Text 36"/>
          <p:cNvSpPr/>
          <p:nvPr/>
        </p:nvSpPr>
        <p:spPr>
          <a:xfrm>
            <a:off x="1143000" y="8501063"/>
            <a:ext cx="1362075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B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契約終了後</a:t>
            </a:r>
            <a:endParaRPr lang="en-US" sz="1950" dirty="0"/>
          </a:p>
        </p:txBody>
      </p:sp>
      <p:sp>
        <p:nvSpPr>
          <p:cNvPr id="40" name="Text 37"/>
          <p:cNvSpPr/>
          <p:nvPr/>
        </p:nvSpPr>
        <p:spPr>
          <a:xfrm>
            <a:off x="5715000" y="8501063"/>
            <a:ext cx="326898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7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ご返送（送料お客様負担）</a:t>
            </a:r>
            <a:endParaRPr lang="en-US" sz="1950" dirty="0"/>
          </a:p>
        </p:txBody>
      </p:sp>
      <p:sp>
        <p:nvSpPr>
          <p:cNvPr id="41" name="Text 38"/>
          <p:cNvSpPr/>
          <p:nvPr/>
        </p:nvSpPr>
        <p:spPr>
          <a:xfrm>
            <a:off x="9601200" y="6491288"/>
            <a:ext cx="829818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268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サポート体制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9601200" y="7672388"/>
            <a:ext cx="7543800" cy="9525"/>
          </a:xfrm>
          <a:prstGeom prst="rect">
            <a:avLst/>
          </a:prstGeom>
          <a:solidFill>
            <a:srgbClr val="E3E1DB"/>
          </a:solidFill>
          <a:ln/>
        </p:spPr>
      </p:sp>
      <p:sp>
        <p:nvSpPr>
          <p:cNvPr id="43" name="Text 40"/>
          <p:cNvSpPr/>
          <p:nvPr/>
        </p:nvSpPr>
        <p:spPr>
          <a:xfrm>
            <a:off x="9601200" y="7167563"/>
            <a:ext cx="1362075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B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メール対応</a:t>
            </a:r>
            <a:endParaRPr lang="en-US" sz="1950" dirty="0"/>
          </a:p>
        </p:txBody>
      </p:sp>
      <p:sp>
        <p:nvSpPr>
          <p:cNvPr id="44" name="Text 41"/>
          <p:cNvSpPr/>
          <p:nvPr/>
        </p:nvSpPr>
        <p:spPr>
          <a:xfrm>
            <a:off x="15768935" y="7167563"/>
            <a:ext cx="1513671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7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3営業日以内</a:t>
            </a:r>
            <a:endParaRPr lang="en-US" sz="1950" dirty="0"/>
          </a:p>
        </p:txBody>
      </p:sp>
      <p:sp>
        <p:nvSpPr>
          <p:cNvPr id="45" name="Shape 42"/>
          <p:cNvSpPr/>
          <p:nvPr/>
        </p:nvSpPr>
        <p:spPr>
          <a:xfrm>
            <a:off x="9601200" y="8339137"/>
            <a:ext cx="7543800" cy="9525"/>
          </a:xfrm>
          <a:prstGeom prst="rect">
            <a:avLst/>
          </a:prstGeom>
          <a:solidFill>
            <a:srgbClr val="E3E1DB"/>
          </a:solidFill>
          <a:ln/>
        </p:spPr>
      </p:sp>
      <p:sp>
        <p:nvSpPr>
          <p:cNvPr id="46" name="Text 43"/>
          <p:cNvSpPr/>
          <p:nvPr/>
        </p:nvSpPr>
        <p:spPr>
          <a:xfrm>
            <a:off x="9601200" y="7834313"/>
            <a:ext cx="1906905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B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オンライン対応</a:t>
            </a:r>
            <a:endParaRPr lang="en-US" sz="1950" dirty="0"/>
          </a:p>
        </p:txBody>
      </p:sp>
      <p:sp>
        <p:nvSpPr>
          <p:cNvPr id="47" name="Text 44"/>
          <p:cNvSpPr/>
          <p:nvPr/>
        </p:nvSpPr>
        <p:spPr>
          <a:xfrm>
            <a:off x="15548074" y="7834313"/>
            <a:ext cx="1756618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7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¥10,000 / 時間</a:t>
            </a:r>
            <a:endParaRPr lang="en-US" sz="1950" dirty="0"/>
          </a:p>
        </p:txBody>
      </p:sp>
      <p:sp>
        <p:nvSpPr>
          <p:cNvPr id="48" name="Shape 45"/>
          <p:cNvSpPr/>
          <p:nvPr/>
        </p:nvSpPr>
        <p:spPr>
          <a:xfrm>
            <a:off x="9601200" y="9005888"/>
            <a:ext cx="7543800" cy="9525"/>
          </a:xfrm>
          <a:prstGeom prst="rect">
            <a:avLst/>
          </a:prstGeom>
          <a:solidFill>
            <a:srgbClr val="E3E1DB"/>
          </a:solidFill>
          <a:ln/>
        </p:spPr>
      </p:sp>
      <p:sp>
        <p:nvSpPr>
          <p:cNvPr id="49" name="Text 46"/>
          <p:cNvSpPr/>
          <p:nvPr/>
        </p:nvSpPr>
        <p:spPr>
          <a:xfrm>
            <a:off x="9601200" y="8501063"/>
            <a:ext cx="10668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B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訪問対応</a:t>
            </a:r>
            <a:endParaRPr lang="en-US" sz="1950" dirty="0"/>
          </a:p>
        </p:txBody>
      </p:sp>
      <p:sp>
        <p:nvSpPr>
          <p:cNvPr id="50" name="Text 47"/>
          <p:cNvSpPr/>
          <p:nvPr/>
        </p:nvSpPr>
        <p:spPr>
          <a:xfrm>
            <a:off x="15657909" y="8501063"/>
            <a:ext cx="16358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7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¥100,000 / 日</a:t>
            </a:r>
            <a:endParaRPr lang="en-US" sz="1950" dirty="0"/>
          </a:p>
        </p:txBody>
      </p:sp>
      <p:sp>
        <p:nvSpPr>
          <p:cNvPr id="51" name="Shape 48"/>
          <p:cNvSpPr/>
          <p:nvPr/>
        </p:nvSpPr>
        <p:spPr>
          <a:xfrm>
            <a:off x="0" y="9496425"/>
            <a:ext cx="18288000" cy="790575"/>
          </a:xfrm>
          <a:prstGeom prst="rect">
            <a:avLst/>
          </a:prstGeom>
          <a:solidFill>
            <a:srgbClr val="026881"/>
          </a:solidFill>
          <a:ln/>
        </p:spPr>
      </p:sp>
      <p:sp>
        <p:nvSpPr>
          <p:cNvPr id="52" name="Text 49"/>
          <p:cNvSpPr/>
          <p:nvPr/>
        </p:nvSpPr>
        <p:spPr>
          <a:xfrm>
            <a:off x="1143000" y="9725025"/>
            <a:ext cx="1716018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株式会社RIGEL</a:t>
            </a:r>
            <a:endParaRPr lang="en-US" sz="1800" dirty="0"/>
          </a:p>
        </p:txBody>
      </p:sp>
      <p:sp>
        <p:nvSpPr>
          <p:cNvPr id="53" name="Text 50"/>
          <p:cNvSpPr/>
          <p:nvPr/>
        </p:nvSpPr>
        <p:spPr>
          <a:xfrm>
            <a:off x="11871722" y="9725025"/>
            <a:ext cx="5800606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千葉県柏市／rigel-works.jp／info@rigel-works.jp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2026-08-05T14:11:02Z</dcterms:created>
  <dcterms:modified xsi:type="dcterms:W3CDTF">2026-08-05T14:11:02Z</dcterms:modified>
</cp:coreProperties>
</file>